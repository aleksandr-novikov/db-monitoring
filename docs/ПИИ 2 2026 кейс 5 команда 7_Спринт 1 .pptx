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6" r:id="rId1"/>
  </p:sldMasterIdLst>
  <p:sldIdLst>
    <p:sldId id="256" r:id="rId2"/>
    <p:sldId id="261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EE69DF16-7E23-4BEC-AAAA-E1A35972D710}">
          <p14:sldIdLst>
            <p14:sldId id="256"/>
          </p14:sldIdLst>
        </p14:section>
        <p14:section name="ЦЕЛЕВАЯ АУДИТОРИЯ" id="{522C3394-3FEC-463F-88B8-F55F7BB4B6A5}">
          <p14:sldIdLst>
            <p14:sldId id="261"/>
            <p14:sldId id="258"/>
            <p14:sldId id="262"/>
          </p14:sldIdLst>
        </p14:section>
        <p14:section name="АНАЛИЗ КОНКУРЕНТОВ -  Что на рынке? " id="{2E02CBA9-C919-4272-9D12-E8F297116E00}">
          <p14:sldIdLst>
            <p14:sldId id="263"/>
            <p14:sldId id="264"/>
            <p14:sldId id="265"/>
            <p14:sldId id="266"/>
          </p14:sldIdLst>
        </p14:section>
        <p14:section name="КОНЦЕПЦИЯ ПРОДУКТА – функционал и ценность" id="{84D2053D-52AB-4016-8AA5-9E0C5A78146D}">
          <p14:sldIdLst>
            <p14:sldId id="267"/>
            <p14:sldId id="268"/>
          </p14:sldIdLst>
        </p14:section>
        <p14:section name="ПЛАН РЕСУРСОВ ДЛЯ РАЗРАБОТКИ" id="{D272A879-1786-4755-95E4-0A63387A9B0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D05EE9-0D7F-4AEE-A077-C17A5559B0AA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1C3B8DE-F748-4E09-8883-F293D03AFBD0}" type="slidenum">
              <a:rPr lang="ru-RU" smtClean="0"/>
              <a:t>‹#›</a:t>
            </a:fld>
            <a:endParaRPr lang="ru-RU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200955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05EE9-0D7F-4AEE-A077-C17A5559B0AA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B8DE-F748-4E09-8883-F293D03AFB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678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D05EE9-0D7F-4AEE-A077-C17A5559B0AA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C3B8DE-F748-4E09-8883-F293D03AFBD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95913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05EE9-0D7F-4AEE-A077-C17A5559B0AA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B8DE-F748-4E09-8883-F293D03AFB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3728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05EE9-0D7F-4AEE-A077-C17A5559B0AA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B8DE-F748-4E09-8883-F293D03AFB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90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05EE9-0D7F-4AEE-A077-C17A5559B0AA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B8DE-F748-4E09-8883-F293D03AFB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48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05EE9-0D7F-4AEE-A077-C17A5559B0AA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B8DE-F748-4E09-8883-F293D03AFB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011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D05EE9-0D7F-4AEE-A077-C17A5559B0AA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C3B8DE-F748-4E09-8883-F293D03AFBD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51670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D05EE9-0D7F-4AEE-A077-C17A5559B0AA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C3B8DE-F748-4E09-8883-F293D03AFBD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78883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05EE9-0D7F-4AEE-A077-C17A5559B0AA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B8DE-F748-4E09-8883-F293D03AFB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3135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05EE9-0D7F-4AEE-A077-C17A5559B0AA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3B8DE-F748-4E09-8883-F293D03AFB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77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D5D05EE9-0D7F-4AEE-A077-C17A5559B0AA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21C3B8DE-F748-4E09-8883-F293D03AFBD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224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B5F675-5356-4974-975F-5CCC640FF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1305" y="609560"/>
            <a:ext cx="8361229" cy="1351298"/>
          </a:xfrm>
        </p:spPr>
        <p:txBody>
          <a:bodyPr/>
          <a:lstStyle/>
          <a:p>
            <a:r>
              <a:rPr lang="ru-RU" sz="4400" b="1" i="0" dirty="0">
                <a:solidFill>
                  <a:schemeClr val="tx1"/>
                </a:solidFill>
                <a:effectLst/>
                <a:latin typeface="Capturanow"/>
              </a:rPr>
              <a:t>СИСТЕМА МОНИТОРИНГА ДАННЫХ В БД (</a:t>
            </a:r>
            <a:r>
              <a:rPr lang="ru-RU" sz="4400" b="1" i="0" dirty="0" err="1">
                <a:solidFill>
                  <a:schemeClr val="tx1"/>
                </a:solidFill>
                <a:effectLst/>
                <a:latin typeface="Capturanow"/>
              </a:rPr>
              <a:t>Flask</a:t>
            </a:r>
            <a:r>
              <a:rPr lang="ru-RU" sz="4400" b="1" i="0" dirty="0">
                <a:solidFill>
                  <a:schemeClr val="tx1"/>
                </a:solidFill>
                <a:effectLst/>
                <a:latin typeface="Capturanow"/>
              </a:rPr>
              <a:t>)</a:t>
            </a:r>
            <a:endParaRPr lang="ru-RU" sz="4400" b="1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F85F24-EDF9-457D-B37A-FA8D03915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119" y="2462496"/>
            <a:ext cx="7078926" cy="1086237"/>
          </a:xfrm>
        </p:spPr>
        <p:txBody>
          <a:bodyPr>
            <a:no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Capturanow"/>
              </a:rPr>
              <a:t>КЕЙС </a:t>
            </a:r>
            <a:r>
              <a:rPr lang="ru-RU" sz="1800" b="1" i="0" dirty="0" smtClean="0">
                <a:solidFill>
                  <a:schemeClr val="tx1"/>
                </a:solidFill>
                <a:effectLst/>
                <a:latin typeface="Capturanow"/>
              </a:rPr>
              <a:t>№5, 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Capturanow"/>
              </a:rPr>
              <a:t>КОМАНДА 7</a:t>
            </a:r>
            <a:endParaRPr lang="en-US" sz="1800" b="1" i="0" dirty="0">
              <a:solidFill>
                <a:schemeClr val="tx1"/>
              </a:solidFill>
              <a:effectLst/>
              <a:latin typeface="Capturanow"/>
            </a:endParaRPr>
          </a:p>
          <a:p>
            <a:endParaRPr lang="en-US" sz="1600" b="1" i="0" dirty="0">
              <a:solidFill>
                <a:schemeClr val="tx1"/>
              </a:solidFill>
              <a:effectLst/>
              <a:latin typeface="Capturanow"/>
            </a:endParaRPr>
          </a:p>
          <a:p>
            <a:pPr algn="l"/>
            <a:r>
              <a:rPr lang="ru-RU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Александр Новиков (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Team Lead, ML Engineer)</a:t>
            </a:r>
          </a:p>
          <a:p>
            <a:pPr algn="l"/>
            <a:r>
              <a:rPr lang="ru-RU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Оксана Дергачева (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Team Lead, Data engineer/Backend, ML Engineer)</a:t>
            </a:r>
          </a:p>
          <a:p>
            <a:pPr algn="l"/>
            <a:r>
              <a:rPr lang="ru-RU" sz="1800" b="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Раиль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Фахртдинов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(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Data Analyst, ML Engineer)</a:t>
            </a:r>
          </a:p>
          <a:p>
            <a:pPr algn="l"/>
            <a:r>
              <a:rPr lang="ru-RU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Дмитрий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Шайнуров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(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Data Analyst)</a:t>
            </a:r>
          </a:p>
          <a:p>
            <a:pPr algn="l"/>
            <a:r>
              <a:rPr lang="ru-RU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Виталий Миляков (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Data engineer/Backend, ML Engineer)</a:t>
            </a:r>
          </a:p>
          <a:p>
            <a:pPr algn="l"/>
            <a:r>
              <a:rPr lang="ru-RU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Елена Сергеева (презентатор)</a:t>
            </a:r>
          </a:p>
          <a:p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D08BD0-CCBD-460D-8970-01F29936F47A}"/>
              </a:ext>
            </a:extLst>
          </p:cNvPr>
          <p:cNvSpPr txBox="1"/>
          <p:nvPr/>
        </p:nvSpPr>
        <p:spPr>
          <a:xfrm>
            <a:off x="181415" y="216348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Capturanow"/>
              </a:rPr>
              <a:t>ПИИ-2026 - ПРОЕКТНЫЙ ПРАКТИКУМ 2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7167C5-61C3-4F7E-9E22-B1BDB68E6D32}"/>
              </a:ext>
            </a:extLst>
          </p:cNvPr>
          <p:cNvSpPr txBox="1"/>
          <p:nvPr/>
        </p:nvSpPr>
        <p:spPr>
          <a:xfrm>
            <a:off x="6096000" y="6180892"/>
            <a:ext cx="60973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effectLst/>
                <a:latin typeface="Roboto" panose="02000000000000000000" pitchFamily="2" charset="0"/>
              </a:rPr>
              <a:t>https://github.com/aleksandr-novikov/db-monitoring</a:t>
            </a:r>
            <a:endParaRPr lang="ru-RU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D27FA9-2C73-4EBA-A89B-C57E6442BB1E}"/>
              </a:ext>
            </a:extLst>
          </p:cNvPr>
          <p:cNvSpPr txBox="1"/>
          <p:nvPr/>
        </p:nvSpPr>
        <p:spPr>
          <a:xfrm>
            <a:off x="6096000" y="6519446"/>
            <a:ext cx="64022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effectLst/>
                <a:latin typeface="Roboto" panose="02000000000000000000" pitchFamily="2" charset="0"/>
              </a:rPr>
              <a:t>https://github.com/users/aleksandr-novikov/projects/1/views/1</a:t>
            </a:r>
            <a:endParaRPr lang="ru-RU" sz="1600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00C07A08-D0D3-4CD0-9F15-99A0F65EC167}"/>
              </a:ext>
            </a:extLst>
          </p:cNvPr>
          <p:cNvSpPr txBox="1">
            <a:spLocks/>
          </p:cNvSpPr>
          <p:nvPr/>
        </p:nvSpPr>
        <p:spPr>
          <a:xfrm>
            <a:off x="8008619" y="4327956"/>
            <a:ext cx="2986353" cy="13512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72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400" b="1" dirty="0">
                <a:solidFill>
                  <a:schemeClr val="tx1"/>
                </a:solidFill>
                <a:latin typeface="Capturanow"/>
              </a:rPr>
              <a:t>СПРИНТ 1</a:t>
            </a:r>
            <a:endParaRPr lang="ru-RU" sz="4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288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5D8AF-33F9-41B0-B14E-3BE92445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45202"/>
            <a:ext cx="9601200" cy="1485900"/>
          </a:xfrm>
        </p:spPr>
        <p:txBody>
          <a:bodyPr/>
          <a:lstStyle/>
          <a:p>
            <a:r>
              <a:rPr lang="ru-RU" dirty="0"/>
              <a:t>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CCD604-66BD-49DA-A6D0-CC4C4AB0C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53384"/>
            <a:ext cx="9885680" cy="1695796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данных есть ошибки, пропуски, аномалии. Данные меняются, обновляются.  Зачастую ЦА узнает об этом слишком поздно, бизнес несет убытки и теряет репутацию. Поиск проблем вручную долог и мучителен -  через отдельные SQL-скрипты, разрозненные системы и Excel. Нет единого инструмента мониторинга данных в реальном времени 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9A813507-FE41-4215-9721-CFAF7D75513F}"/>
              </a:ext>
            </a:extLst>
          </p:cNvPr>
          <p:cNvSpPr txBox="1">
            <a:spLocks/>
          </p:cNvSpPr>
          <p:nvPr/>
        </p:nvSpPr>
        <p:spPr>
          <a:xfrm>
            <a:off x="1371600" y="4658402"/>
            <a:ext cx="9885680" cy="135553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Инструмент </a:t>
            </a:r>
            <a:r>
              <a:rPr lang="ru-RU" dirty="0"/>
              <a:t>мониторинга данных БД, простой и удобный</a:t>
            </a:r>
            <a:r>
              <a:rPr lang="ru-RU" dirty="0" smtClean="0"/>
              <a:t>, вместо тяжеловесной платформы </a:t>
            </a:r>
            <a:r>
              <a:rPr lang="ru-RU" dirty="0"/>
              <a:t>управления инцидентами или данными. Наша главная цель — дать ЦА прозрачную картину: каким таблицам можно доверять прямо сейчас, а где есть критичные </a:t>
            </a:r>
            <a:r>
              <a:rPr lang="ru-RU" dirty="0" smtClean="0"/>
              <a:t>проблемы</a:t>
            </a:r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03636B06-57D5-4826-AD42-773151F65D13}"/>
              </a:ext>
            </a:extLst>
          </p:cNvPr>
          <p:cNvSpPr txBox="1">
            <a:spLocks/>
          </p:cNvSpPr>
          <p:nvPr/>
        </p:nvSpPr>
        <p:spPr>
          <a:xfrm>
            <a:off x="1295400" y="3903791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2195560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5D8AF-33F9-41B0-B14E-3BE92445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99009"/>
            <a:ext cx="9601200" cy="1485900"/>
          </a:xfrm>
        </p:spPr>
        <p:txBody>
          <a:bodyPr/>
          <a:lstStyle/>
          <a:p>
            <a:r>
              <a:rPr lang="ru-RU" dirty="0"/>
              <a:t>ЦЕЛЕВАЯ АУДИТОРИЯ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CCD604-66BD-49DA-A6D0-CC4C4AB0C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27266"/>
            <a:ext cx="7376160" cy="1695796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r>
              <a:rPr lang="ru-RU" dirty="0"/>
              <a:t>Бизнес-пользователи (Менеджеры, Руководители, </a:t>
            </a:r>
            <a:r>
              <a:rPr lang="en-US" dirty="0"/>
              <a:t>BI</a:t>
            </a:r>
            <a:r>
              <a:rPr lang="ru-RU" dirty="0"/>
              <a:t> аналитики, БА)</a:t>
            </a:r>
          </a:p>
          <a:p>
            <a:pPr marL="0" indent="0">
              <a:buNone/>
            </a:pPr>
            <a:r>
              <a:rPr lang="ru-RU" dirty="0" smtClean="0"/>
              <a:t>Формируют </a:t>
            </a:r>
            <a:r>
              <a:rPr lang="ru-RU" dirty="0"/>
              <a:t>из БД отчеты для решения бизнес-задач</a:t>
            </a:r>
          </a:p>
          <a:p>
            <a:r>
              <a:rPr lang="ru-RU" dirty="0"/>
              <a:t>Технические специалисты (</a:t>
            </a:r>
            <a:r>
              <a:rPr lang="en-US" dirty="0"/>
              <a:t>Data/ML Engineers,</a:t>
            </a:r>
            <a:r>
              <a:rPr lang="ru-RU" dirty="0"/>
              <a:t> админы БД) </a:t>
            </a:r>
          </a:p>
          <a:p>
            <a:pPr marL="0" indent="0">
              <a:buNone/>
            </a:pPr>
            <a:r>
              <a:rPr lang="ru-RU" dirty="0"/>
              <a:t>Отвечают за актуальность, качество данных в БД</a:t>
            </a:r>
            <a:r>
              <a:rPr lang="en-US" dirty="0"/>
              <a:t> </a:t>
            </a:r>
            <a:endParaRPr lang="ru-RU" dirty="0"/>
          </a:p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7863D9A6-02E5-403A-95B5-4ED5CA6D29B1}"/>
              </a:ext>
            </a:extLst>
          </p:cNvPr>
          <p:cNvSpPr txBox="1">
            <a:spLocks/>
          </p:cNvSpPr>
          <p:nvPr/>
        </p:nvSpPr>
        <p:spPr>
          <a:xfrm>
            <a:off x="1371600" y="3834939"/>
            <a:ext cx="9601200" cy="77585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Сфера деятельности бизнеса </a:t>
            </a:r>
            <a:r>
              <a:rPr lang="ru-RU" dirty="0" smtClean="0"/>
              <a:t>– любая, </a:t>
            </a:r>
            <a:r>
              <a:rPr lang="ru-RU" dirty="0"/>
              <a:t>где накоплены данные в БД, компания понимает ценность данных и использует БД</a:t>
            </a:r>
          </a:p>
          <a:p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62010333-6465-4AE5-9F36-A895A29078C5}"/>
              </a:ext>
            </a:extLst>
          </p:cNvPr>
          <p:cNvSpPr txBox="1">
            <a:spLocks/>
          </p:cNvSpPr>
          <p:nvPr/>
        </p:nvSpPr>
        <p:spPr>
          <a:xfrm>
            <a:off x="1371600" y="4842626"/>
            <a:ext cx="9601200" cy="158865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Стартапы, небольшие компании (нет систем мониторинга, но есть проблемы с БД)</a:t>
            </a:r>
          </a:p>
          <a:p>
            <a:r>
              <a:rPr lang="ru-RU" dirty="0"/>
              <a:t>Компании с 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legacy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старой сложной БД,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связи  восстановить сложно, архитектуру менять не хочется)</a:t>
            </a:r>
            <a:endParaRPr lang="ru-RU" dirty="0"/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70D00A1-467C-483B-A338-D1EA82FAD2C0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8617899" y="0"/>
            <a:ext cx="3574101" cy="30230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5986A4-A522-431E-B37E-66968819EE9B}"/>
              </a:ext>
            </a:extLst>
          </p:cNvPr>
          <p:cNvSpPr txBox="1"/>
          <p:nvPr/>
        </p:nvSpPr>
        <p:spPr>
          <a:xfrm>
            <a:off x="1371600" y="3193473"/>
            <a:ext cx="9265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FF0000"/>
                </a:solidFill>
              </a:rPr>
              <a:t>! Всем нужна уверенность в корректности и актуальности данных ! </a:t>
            </a:r>
          </a:p>
        </p:txBody>
      </p:sp>
    </p:spTree>
    <p:extLst>
      <p:ext uri="{BB962C8B-B14F-4D97-AF65-F5344CB8AC3E}">
        <p14:creationId xmlns:p14="http://schemas.microsoft.com/office/powerpoint/2010/main" val="379431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5D8AF-33F9-41B0-B14E-3BE92445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680" y="266199"/>
            <a:ext cx="9601200" cy="1485900"/>
          </a:xfrm>
        </p:spPr>
        <p:txBody>
          <a:bodyPr/>
          <a:lstStyle/>
          <a:p>
            <a:r>
              <a:rPr lang="ru-RU" dirty="0"/>
              <a:t>ПОРТРЕТ ЦА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CCD604-66BD-49DA-A6D0-CC4C4AB0C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680" y="1009149"/>
            <a:ext cx="6238240" cy="269067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b="1" dirty="0"/>
              <a:t>Анна, аналитик данных, </a:t>
            </a:r>
            <a:r>
              <a:rPr lang="ru-RU" sz="1400" dirty="0"/>
              <a:t>в</a:t>
            </a:r>
            <a:r>
              <a:rPr lang="ru-RU" sz="1400" dirty="0" smtClean="0"/>
              <a:t>озраст</a:t>
            </a:r>
            <a:r>
              <a:rPr lang="ru-RU" sz="1400" dirty="0"/>
              <a:t>: 30 лет</a:t>
            </a:r>
          </a:p>
          <a:p>
            <a:pPr marL="0" indent="0">
              <a:buNone/>
            </a:pPr>
            <a:r>
              <a:rPr lang="ru-RU" sz="1400" b="1" dirty="0"/>
              <a:t>Контекст работы: </a:t>
            </a:r>
            <a:r>
              <a:rPr lang="ru-RU" sz="1400" dirty="0"/>
              <a:t>работает с SQL, BI-инструментами и регулярной отчётностью, готовит витрины и аналитические отчёты для бизнеса.</a:t>
            </a:r>
          </a:p>
          <a:p>
            <a:pPr marL="0" indent="0">
              <a:buNone/>
            </a:pPr>
            <a:r>
              <a:rPr lang="ru-RU" sz="1400" b="1" dirty="0"/>
              <a:t>Основная проблема</a:t>
            </a:r>
            <a:r>
              <a:rPr lang="ru-RU" sz="1400" dirty="0"/>
              <a:t>: проблемы в данных обнаруживаются уже в момент подготовки отчёта, когда время на исправление ограничено.</a:t>
            </a:r>
          </a:p>
          <a:p>
            <a:pPr marL="0" indent="0">
              <a:buNone/>
            </a:pPr>
            <a:r>
              <a:rPr lang="ru-RU" sz="1400" b="1" dirty="0"/>
              <a:t>Ключевые сложности: </a:t>
            </a:r>
            <a:r>
              <a:rPr lang="ru-RU" sz="1400" dirty="0"/>
              <a:t>позднее выявление ошибок, необходимость вручную перепроверять данные, риск построения выводов на основе некорректной информации, задержки в подготовке отчётности.</a:t>
            </a:r>
          </a:p>
          <a:p>
            <a:pPr marL="0" indent="0">
              <a:buNone/>
            </a:pPr>
            <a:r>
              <a:rPr lang="ru-RU" sz="1400" b="1" dirty="0"/>
              <a:t>Её цель: </a:t>
            </a:r>
            <a:r>
              <a:rPr lang="ru-RU" sz="1400" dirty="0"/>
              <a:t>быстро понимать, можно ли доверять данным, и сразу видеть проблемные таблицы.</a:t>
            </a:r>
          </a:p>
          <a:p>
            <a:pPr marL="0" indent="0">
              <a:buNone/>
            </a:pPr>
            <a:endParaRPr lang="ru-RU" sz="1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F23E52-F852-4B9F-8132-BD8B88854B63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7193771" y="1"/>
            <a:ext cx="4998229" cy="3699818"/>
          </a:xfrm>
          <a:prstGeom prst="rect">
            <a:avLst/>
          </a:prstGeom>
        </p:spPr>
      </p:pic>
      <p:sp>
        <p:nvSpPr>
          <p:cNvPr id="14" name="Объект 2">
            <a:extLst>
              <a:ext uri="{FF2B5EF4-FFF2-40B4-BE49-F238E27FC236}">
                <a16:creationId xmlns:a16="http://schemas.microsoft.com/office/drawing/2014/main" id="{1B6961DF-39E6-426E-8AF9-7212181CCE58}"/>
              </a:ext>
            </a:extLst>
          </p:cNvPr>
          <p:cNvSpPr txBox="1">
            <a:spLocks/>
          </p:cNvSpPr>
          <p:nvPr/>
        </p:nvSpPr>
        <p:spPr>
          <a:xfrm>
            <a:off x="995680" y="3699819"/>
            <a:ext cx="11196319" cy="282407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ru-RU" sz="1400" b="1" dirty="0"/>
              <a:t>Ожидание от продукта: </a:t>
            </a:r>
            <a:r>
              <a:rPr lang="ru-RU" sz="1400" dirty="0"/>
              <a:t>визуальный </a:t>
            </a:r>
            <a:r>
              <a:rPr lang="ru-RU" sz="1400" dirty="0" err="1"/>
              <a:t>дашборд</a:t>
            </a:r>
            <a:r>
              <a:rPr lang="ru-RU" sz="1400" dirty="0"/>
              <a:t>, понятная индикация ошибок, простой интерфейс и быстрый старт без сложной настройки.</a:t>
            </a:r>
          </a:p>
          <a:p>
            <a:pPr marL="0" indent="0">
              <a:buFont typeface="Franklin Gothic Book" panose="020B0503020102020204" pitchFamily="34" charset="0"/>
              <a:buNone/>
            </a:pPr>
            <a:r>
              <a:rPr lang="ru-RU" sz="1400" b="1" dirty="0"/>
              <a:t>Текущие альтернативы: </a:t>
            </a:r>
            <a:r>
              <a:rPr lang="ru-RU" sz="1400" dirty="0"/>
              <a:t>ручные SQL-проверки, Excel, BI-</a:t>
            </a:r>
            <a:r>
              <a:rPr lang="ru-RU" sz="1400" dirty="0" err="1"/>
              <a:t>дашборды</a:t>
            </a:r>
            <a:r>
              <a:rPr lang="ru-RU" sz="1400" dirty="0"/>
              <a:t>, выборочная визуальная проверка таблиц.</a:t>
            </a:r>
          </a:p>
          <a:p>
            <a:pPr marL="0" indent="0">
              <a:buFont typeface="Franklin Gothic Book" panose="020B0503020102020204" pitchFamily="34" charset="0"/>
              <a:buNone/>
            </a:pPr>
            <a:r>
              <a:rPr lang="ru-RU" sz="1400" b="1" dirty="0"/>
              <a:t>Триггер интереса к продукту: </a:t>
            </a:r>
            <a:r>
              <a:rPr lang="ru-RU" sz="1400" dirty="0"/>
              <a:t>повторяющиеся ошибки в отчётности, необходимость регулярно перепроверять данные вручную, рост числа источников данных и таблиц.</a:t>
            </a:r>
          </a:p>
          <a:p>
            <a:pPr marL="0" indent="0">
              <a:buFont typeface="Franklin Gothic Book" panose="020B0503020102020204" pitchFamily="34" charset="0"/>
              <a:buNone/>
            </a:pPr>
            <a:r>
              <a:rPr lang="ru-RU" sz="1400" b="1" dirty="0"/>
              <a:t>Каналы, откуда она может узнать про наш продукт: </a:t>
            </a:r>
            <a:r>
              <a:rPr lang="ru-RU" sz="1400" dirty="0" err="1"/>
              <a:t>Хабр</a:t>
            </a:r>
            <a:r>
              <a:rPr lang="ru-RU" sz="1400" dirty="0"/>
              <a:t>, </a:t>
            </a:r>
            <a:r>
              <a:rPr lang="ru-RU" sz="1400" dirty="0" err="1"/>
              <a:t>Telegram</a:t>
            </a:r>
            <a:r>
              <a:rPr lang="ru-RU" sz="1400" dirty="0"/>
              <a:t>-каналы по аналитике и BI, профессиональные чаты аналитиков, конференции по аналитике данных, материалы по BI-инструментам.</a:t>
            </a:r>
          </a:p>
          <a:p>
            <a:pPr marL="0" indent="0">
              <a:buFont typeface="Franklin Gothic Book" panose="020B0503020102020204" pitchFamily="34" charset="0"/>
              <a:buNone/>
            </a:pPr>
            <a:r>
              <a:rPr lang="ru-RU" sz="1800" b="1" dirty="0">
                <a:solidFill>
                  <a:srgbClr val="FF0000"/>
                </a:solidFill>
              </a:rPr>
              <a:t>Крик души Анны: </a:t>
            </a:r>
            <a:r>
              <a:rPr lang="ru-RU" sz="1800" dirty="0">
                <a:solidFill>
                  <a:srgbClr val="FF0000"/>
                </a:solidFill>
              </a:rPr>
              <a:t>«Мне нужен инструмент, который сразу покажет, где в данных проблема, чтобы я не искала её вручную перед сдачей отчёта».</a:t>
            </a:r>
          </a:p>
        </p:txBody>
      </p:sp>
    </p:spTree>
    <p:extLst>
      <p:ext uri="{BB962C8B-B14F-4D97-AF65-F5344CB8AC3E}">
        <p14:creationId xmlns:p14="http://schemas.microsoft.com/office/powerpoint/2010/main" val="2813463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5D8AF-33F9-41B0-B14E-3BE92445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46251"/>
            <a:ext cx="10556240" cy="1485900"/>
          </a:xfrm>
        </p:spPr>
        <p:txBody>
          <a:bodyPr/>
          <a:lstStyle/>
          <a:p>
            <a:r>
              <a:rPr lang="ru-RU" dirty="0"/>
              <a:t>АНАЛИЗ КОНКУРЕНТОВ </a:t>
            </a:r>
            <a:r>
              <a:rPr lang="ru-RU" dirty="0" smtClean="0"/>
              <a:t>- </a:t>
            </a:r>
            <a:r>
              <a:rPr lang="ru-RU" dirty="0"/>
              <a:t>Что на рынке</a:t>
            </a:r>
            <a:r>
              <a:rPr lang="en-US" dirty="0"/>
              <a:t>?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CCD604-66BD-49DA-A6D0-CC4C4AB0C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0" y="1101680"/>
            <a:ext cx="10414000" cy="67771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ru-RU" sz="1800" dirty="0"/>
              <a:t>Базы данных уже мониторят 55% компаний по всему </a:t>
            </a:r>
            <a:r>
              <a:rPr lang="ru-RU" sz="1800" dirty="0" smtClean="0"/>
              <a:t>миру </a:t>
            </a:r>
            <a:r>
              <a:rPr lang="ru-RU" sz="1800" dirty="0"/>
              <a:t>(согласно исследованию New </a:t>
            </a:r>
            <a:r>
              <a:rPr lang="ru-RU" sz="1800" dirty="0" err="1"/>
              <a:t>Relic</a:t>
            </a:r>
            <a:r>
              <a:rPr lang="ru-RU" sz="1800" dirty="0"/>
              <a:t> «State </a:t>
            </a:r>
            <a:r>
              <a:rPr lang="ru-RU" sz="1800" dirty="0" err="1"/>
              <a:t>of</a:t>
            </a:r>
            <a:r>
              <a:rPr lang="ru-RU" sz="1800" dirty="0"/>
              <a:t> </a:t>
            </a:r>
            <a:r>
              <a:rPr lang="ru-RU" sz="1800" dirty="0" err="1"/>
              <a:t>Observability</a:t>
            </a:r>
            <a:r>
              <a:rPr lang="ru-RU" sz="1800" dirty="0"/>
              <a:t> 2024</a:t>
            </a:r>
            <a:r>
              <a:rPr lang="ru-RU" sz="1800" dirty="0" smtClean="0"/>
              <a:t>»)</a:t>
            </a:r>
            <a:endParaRPr lang="ru-RU" sz="1800" dirty="0"/>
          </a:p>
          <a:p>
            <a:pPr algn="l"/>
            <a:endParaRPr lang="ru-RU" sz="1800" dirty="0"/>
          </a:p>
        </p:txBody>
      </p:sp>
      <p:pic>
        <p:nvPicPr>
          <p:cNvPr id="2050" name="Picture 2" descr="Database Monitoring Software Market">
            <a:extLst>
              <a:ext uri="{FF2B5EF4-FFF2-40B4-BE49-F238E27FC236}">
                <a16:creationId xmlns:a16="http://schemas.microsoft.com/office/drawing/2014/main" id="{E09DF566-B636-4EC0-B08A-01277E858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220" y="1779399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050C5CEF-F671-4E6D-8677-6D16F7A4271E}"/>
              </a:ext>
            </a:extLst>
          </p:cNvPr>
          <p:cNvSpPr txBox="1">
            <a:spLocks/>
          </p:cNvSpPr>
          <p:nvPr/>
        </p:nvSpPr>
        <p:spPr>
          <a:xfrm>
            <a:off x="1188720" y="1779399"/>
            <a:ext cx="4765040" cy="14859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b="0" i="0" dirty="0">
                <a:solidFill>
                  <a:srgbClr val="0F1115"/>
                </a:solidFill>
                <a:effectLst/>
                <a:latin typeface="quote-cjk-patch"/>
              </a:rPr>
              <a:t>Отдельно растёт категория «</a:t>
            </a:r>
            <a:r>
              <a:rPr lang="ru-RU" sz="1800" b="0" i="0" dirty="0" err="1">
                <a:solidFill>
                  <a:srgbClr val="0F1115"/>
                </a:solidFill>
                <a:effectLst/>
                <a:latin typeface="quote-cjk-patch"/>
              </a:rPr>
              <a:t>data</a:t>
            </a:r>
            <a:r>
              <a:rPr lang="ru-RU" sz="18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1800" b="0" i="0" dirty="0" err="1">
                <a:solidFill>
                  <a:srgbClr val="0F1115"/>
                </a:solidFill>
                <a:effectLst/>
                <a:latin typeface="quote-cjk-patch"/>
              </a:rPr>
              <a:t>observability</a:t>
            </a:r>
            <a:r>
              <a:rPr lang="ru-RU" sz="18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1800" b="0" i="0" dirty="0" err="1">
                <a:solidFill>
                  <a:srgbClr val="0F1115"/>
                </a:solidFill>
                <a:effectLst/>
                <a:latin typeface="quote-cjk-patch"/>
              </a:rPr>
              <a:t>tools</a:t>
            </a:r>
            <a:r>
              <a:rPr lang="ru-RU" sz="1800" b="0" i="0" dirty="0">
                <a:solidFill>
                  <a:srgbClr val="0F1115"/>
                </a:solidFill>
                <a:effectLst/>
                <a:latin typeface="quote-cjk-patch"/>
              </a:rPr>
              <a:t>» (наблюдаемость данных), которая включает не только мониторинг БД, но и качество данных, </a:t>
            </a:r>
            <a:r>
              <a:rPr lang="ru-RU" sz="1800" b="0" i="0" dirty="0" smtClean="0">
                <a:solidFill>
                  <a:srgbClr val="0F1115"/>
                </a:solidFill>
                <a:effectLst/>
                <a:latin typeface="quote-cjk-patch"/>
              </a:rPr>
              <a:t>аномалии</a:t>
            </a:r>
            <a:endParaRPr lang="ru-RU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7B52D48-7503-4E32-AEE1-84B564E5AA93}"/>
              </a:ext>
            </a:extLst>
          </p:cNvPr>
          <p:cNvSpPr txBox="1">
            <a:spLocks/>
          </p:cNvSpPr>
          <p:nvPr/>
        </p:nvSpPr>
        <p:spPr>
          <a:xfrm>
            <a:off x="1306091" y="5874224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/>
              <a:t>АКУЛЫ</a:t>
            </a:r>
            <a:r>
              <a:rPr lang="ru-RU" sz="2400" dirty="0"/>
              <a:t> – тяжеловесные </a:t>
            </a:r>
          </a:p>
          <a:p>
            <a:r>
              <a:rPr lang="ru-RU" sz="2400" dirty="0"/>
              <a:t>платформы за </a:t>
            </a:r>
            <a:r>
              <a:rPr lang="ru-RU" sz="2400" dirty="0" smtClean="0"/>
              <a:t>очень </a:t>
            </a:r>
            <a:r>
              <a:rPr lang="ru-RU" sz="2400" dirty="0"/>
              <a:t>большие деньги </a:t>
            </a:r>
            <a:r>
              <a:rPr lang="en-US" sz="2400" dirty="0"/>
              <a:t> </a:t>
            </a:r>
            <a:r>
              <a:rPr lang="en-US" sz="2400" dirty="0" smtClean="0"/>
              <a:t>- </a:t>
            </a:r>
            <a:r>
              <a:rPr lang="ru-RU" sz="2400" dirty="0" smtClean="0"/>
              <a:t> </a:t>
            </a:r>
            <a:r>
              <a:rPr lang="ru-RU" sz="2400" dirty="0"/>
              <a:t>не конкурируем! </a:t>
            </a:r>
          </a:p>
          <a:p>
            <a:endParaRPr lang="ru-RU" sz="2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7E7BB2C-F666-6994-03EA-0041D3739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713" y="4010637"/>
            <a:ext cx="1909701" cy="67588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36C6FFB-412F-81AF-63FB-F96D7727E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091" y="3839115"/>
            <a:ext cx="1175297" cy="116933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CDA6A7B-B528-54B3-6BC7-1B5AAEEC9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4888" y="3386600"/>
            <a:ext cx="1909701" cy="53863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9ACA1EE-C9CD-0549-0607-41285853D7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712" y="4778337"/>
            <a:ext cx="1909701" cy="840027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8BDBBF6-67AF-06A5-E07C-640AC54691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8089" y="3838878"/>
            <a:ext cx="1398987" cy="118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34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5D8AF-33F9-41B0-B14E-3BE92445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51096"/>
            <a:ext cx="10556240" cy="1485900"/>
          </a:xfrm>
        </p:spPr>
        <p:txBody>
          <a:bodyPr/>
          <a:lstStyle/>
          <a:p>
            <a:r>
              <a:rPr lang="ru-RU" dirty="0"/>
              <a:t>АНАЛИЗ КОНКУРЕНТОВ - </a:t>
            </a:r>
            <a:r>
              <a:rPr lang="ru-RU" dirty="0" smtClean="0"/>
              <a:t>Где </a:t>
            </a:r>
            <a:r>
              <a:rPr lang="ru-RU" dirty="0"/>
              <a:t>мы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7B52D48-7503-4E32-AEE1-84B564E5AA93}"/>
              </a:ext>
            </a:extLst>
          </p:cNvPr>
          <p:cNvSpPr txBox="1">
            <a:spLocks/>
          </p:cNvSpPr>
          <p:nvPr/>
        </p:nvSpPr>
        <p:spPr>
          <a:xfrm>
            <a:off x="1023621" y="5340090"/>
            <a:ext cx="11168379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/>
              <a:t>Наша уникальность — это фокус на самом востребованном сценарии без перегруженного и бюрократического функционала.</a:t>
            </a:r>
          </a:p>
          <a:p>
            <a:r>
              <a:rPr lang="ru-RU" sz="2400" dirty="0"/>
              <a:t>Мы предлагаем легковесный, наглядный инструмент, который можно развернуть за пару кликов, подключить базу и сразу получить минимально необходимое покрытие проверок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8167E44D-C3B0-4B82-930A-BB0E3FAB0F08}"/>
              </a:ext>
            </a:extLst>
          </p:cNvPr>
          <p:cNvSpPr/>
          <p:nvPr/>
        </p:nvSpPr>
        <p:spPr>
          <a:xfrm>
            <a:off x="932181" y="1310871"/>
            <a:ext cx="3942080" cy="35760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29FBDC2-4E74-4B80-A18E-A307B3FDD568}"/>
              </a:ext>
            </a:extLst>
          </p:cNvPr>
          <p:cNvSpPr/>
          <p:nvPr/>
        </p:nvSpPr>
        <p:spPr>
          <a:xfrm>
            <a:off x="7861302" y="1264892"/>
            <a:ext cx="3942080" cy="35760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8B3E8F14-24DA-409D-8839-CD3038238281}"/>
              </a:ext>
            </a:extLst>
          </p:cNvPr>
          <p:cNvSpPr/>
          <p:nvPr/>
        </p:nvSpPr>
        <p:spPr>
          <a:xfrm>
            <a:off x="4428491" y="1412470"/>
            <a:ext cx="3942080" cy="357608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МЫ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B7527192-C2FF-40B7-885D-D19BC7968A83}"/>
              </a:ext>
            </a:extLst>
          </p:cNvPr>
          <p:cNvSpPr txBox="1">
            <a:spLocks/>
          </p:cNvSpPr>
          <p:nvPr/>
        </p:nvSpPr>
        <p:spPr>
          <a:xfrm>
            <a:off x="8510272" y="2528685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Ручные проверки</a:t>
            </a:r>
          </a:p>
          <a:p>
            <a:r>
              <a:rPr lang="ru-RU" sz="2400" dirty="0"/>
              <a:t>в Excel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err="1"/>
              <a:t>Кастомные</a:t>
            </a:r>
            <a:r>
              <a:rPr lang="ru-RU" sz="2400" dirty="0"/>
              <a:t> скрипты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9B9D4A50-D68A-443D-87EF-1F2416D33189}"/>
              </a:ext>
            </a:extLst>
          </p:cNvPr>
          <p:cNvSpPr txBox="1">
            <a:spLocks/>
          </p:cNvSpPr>
          <p:nvPr/>
        </p:nvSpPr>
        <p:spPr>
          <a:xfrm>
            <a:off x="1371600" y="2381107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/>
              <a:t>Мощные </a:t>
            </a:r>
            <a:r>
              <a:rPr lang="en-US" sz="2400" dirty="0"/>
              <a:t>enterprise-</a:t>
            </a:r>
          </a:p>
          <a:p>
            <a:r>
              <a:rPr lang="ru-RU" sz="2400" dirty="0"/>
              <a:t>гиганты, например</a:t>
            </a:r>
          </a:p>
          <a:p>
            <a:r>
              <a:rPr lang="ru-RU" sz="2400" dirty="0"/>
              <a:t> - </a:t>
            </a:r>
            <a:r>
              <a:rPr lang="en-US" sz="2400" dirty="0"/>
              <a:t>Monte Carlo</a:t>
            </a:r>
            <a:endParaRPr lang="ru-RU" sz="2400" dirty="0"/>
          </a:p>
          <a:p>
            <a:r>
              <a:rPr lang="ru-RU" sz="2400" dirty="0"/>
              <a:t> - </a:t>
            </a:r>
            <a:r>
              <a:rPr lang="en-US" sz="2400" dirty="0"/>
              <a:t>Soda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85971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5D8AF-33F9-41B0-B14E-3BE92445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7123"/>
            <a:ext cx="10556240" cy="1485900"/>
          </a:xfrm>
        </p:spPr>
        <p:txBody>
          <a:bodyPr/>
          <a:lstStyle/>
          <a:p>
            <a:r>
              <a:rPr lang="ru-RU" dirty="0"/>
              <a:t>АНАЛИЗ КОНКУРЕНТОВ (сравнение)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5EE2CD-DC17-4E9B-BF63-E647CBFE5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23" y="1175121"/>
            <a:ext cx="11225233" cy="52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56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5D8AF-33F9-41B0-B14E-3BE92445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778" y="494679"/>
            <a:ext cx="10556240" cy="1485900"/>
          </a:xfrm>
        </p:spPr>
        <p:txBody>
          <a:bodyPr/>
          <a:lstStyle/>
          <a:p>
            <a:r>
              <a:rPr lang="en-US" dirty="0"/>
              <a:t>PRICING BENCHMARK + </a:t>
            </a:r>
            <a:r>
              <a:rPr lang="ru-RU" dirty="0"/>
              <a:t>ориентиры </a:t>
            </a:r>
            <a:r>
              <a:rPr lang="en-US" dirty="0" smtClean="0"/>
              <a:t>RU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709084A-AE25-4361-721B-8E54D29B8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541917"/>
              </p:ext>
            </p:extLst>
          </p:nvPr>
        </p:nvGraphicFramePr>
        <p:xfrm>
          <a:off x="1485900" y="1727428"/>
          <a:ext cx="9891346" cy="47262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0989">
                  <a:extLst>
                    <a:ext uri="{9D8B030D-6E8A-4147-A177-3AD203B41FA5}">
                      <a16:colId xmlns:a16="http://schemas.microsoft.com/office/drawing/2014/main" val="564698382"/>
                    </a:ext>
                  </a:extLst>
                </a:gridCol>
                <a:gridCol w="4254669">
                  <a:extLst>
                    <a:ext uri="{9D8B030D-6E8A-4147-A177-3AD203B41FA5}">
                      <a16:colId xmlns:a16="http://schemas.microsoft.com/office/drawing/2014/main" val="2564197454"/>
                    </a:ext>
                  </a:extLst>
                </a:gridCol>
                <a:gridCol w="3915688">
                  <a:extLst>
                    <a:ext uri="{9D8B030D-6E8A-4147-A177-3AD203B41FA5}">
                      <a16:colId xmlns:a16="http://schemas.microsoft.com/office/drawing/2014/main" val="2456853230"/>
                    </a:ext>
                  </a:extLst>
                </a:gridCol>
              </a:tblGrid>
              <a:tr h="3375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 err="1">
                          <a:effectLst/>
                        </a:rPr>
                        <a:t>Уровень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 err="1">
                          <a:effectLst/>
                        </a:rPr>
                        <a:t>Конкурент</a:t>
                      </a:r>
                      <a:r>
                        <a:rPr lang="en-US" sz="1200" kern="0" dirty="0">
                          <a:effectLst/>
                        </a:rPr>
                        <a:t> / </a:t>
                      </a:r>
                      <a:r>
                        <a:rPr lang="en-US" sz="1200" kern="0" dirty="0" err="1">
                          <a:effectLst/>
                        </a:rPr>
                        <a:t>тариф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 err="1">
                          <a:effectLst/>
                        </a:rPr>
                        <a:t>Цена</a:t>
                      </a:r>
                      <a:r>
                        <a:rPr lang="en-US" sz="1200" kern="0" dirty="0">
                          <a:effectLst/>
                        </a:rPr>
                        <a:t> (</a:t>
                      </a:r>
                      <a:r>
                        <a:rPr lang="en-US" sz="1200" kern="0" dirty="0" err="1">
                          <a:effectLst/>
                        </a:rPr>
                        <a:t>оценочно</a:t>
                      </a:r>
                      <a:r>
                        <a:rPr lang="en-US" sz="1200" kern="0" dirty="0">
                          <a:effectLst/>
                        </a:rPr>
                        <a:t>)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933713"/>
                  </a:ext>
                </a:extLst>
              </a:tr>
              <a:tr h="3375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 err="1">
                          <a:solidFill>
                            <a:schemeClr val="tx1"/>
                          </a:solidFill>
                          <a:effectLst/>
                        </a:rPr>
                        <a:t>Конкурент</a:t>
                      </a:r>
                      <a:endParaRPr lang="ru-RU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>
                          <a:effectLst/>
                        </a:rPr>
                        <a:t>Monte Carlo (enterprise-only)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>
                          <a:effectLst/>
                        </a:rPr>
                        <a:t>$50k–200k+/год (~$4–16k/мес)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2416503"/>
                  </a:ext>
                </a:extLst>
              </a:tr>
              <a:tr h="3375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 err="1">
                          <a:solidFill>
                            <a:schemeClr val="tx1"/>
                          </a:solidFill>
                          <a:effectLst/>
                        </a:rPr>
                        <a:t>Конкурент</a:t>
                      </a:r>
                      <a:endParaRPr lang="ru-RU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effectLst/>
                        </a:rPr>
                        <a:t>Bigeye, tier-based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0">
                          <a:effectLst/>
                        </a:rPr>
                        <a:t>от ~$30</a:t>
                      </a:r>
                      <a:r>
                        <a:rPr lang="en-US" sz="1200" kern="0">
                          <a:effectLst/>
                        </a:rPr>
                        <a:t>k</a:t>
                      </a:r>
                      <a:r>
                        <a:rPr lang="ru-RU" sz="1200" kern="0">
                          <a:effectLst/>
                        </a:rPr>
                        <a:t>/год (~$2.5</a:t>
                      </a:r>
                      <a:r>
                        <a:rPr lang="en-US" sz="1200" kern="0">
                          <a:effectLst/>
                        </a:rPr>
                        <a:t>k</a:t>
                      </a:r>
                      <a:r>
                        <a:rPr lang="ru-RU" sz="1200" kern="0">
                          <a:effectLst/>
                        </a:rPr>
                        <a:t>/мес)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249676"/>
                  </a:ext>
                </a:extLst>
              </a:tr>
              <a:tr h="3375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 err="1">
                          <a:solidFill>
                            <a:schemeClr val="tx1"/>
                          </a:solidFill>
                          <a:effectLst/>
                        </a:rPr>
                        <a:t>Конкурент</a:t>
                      </a:r>
                      <a:endParaRPr lang="ru-RU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effectLst/>
                        </a:rPr>
                        <a:t>Soda Core (OSS) / Cloud / Enterprise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>
                          <a:effectLst/>
                        </a:rPr>
                        <a:t>Free</a:t>
                      </a:r>
                      <a:r>
                        <a:rPr lang="ru-RU" sz="1200" kern="0">
                          <a:effectLst/>
                        </a:rPr>
                        <a:t> / от $500/мес / по запросу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752617"/>
                  </a:ext>
                </a:extLst>
              </a:tr>
              <a:tr h="3375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 err="1">
                          <a:solidFill>
                            <a:schemeClr val="tx1"/>
                          </a:solidFill>
                          <a:effectLst/>
                        </a:rPr>
                        <a:t>Конкурент</a:t>
                      </a:r>
                      <a:endParaRPr lang="ru-RU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 err="1">
                          <a:effectLst/>
                        </a:rPr>
                        <a:t>Anomalo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0">
                          <a:effectLst/>
                        </a:rPr>
                        <a:t>по запросу, оценочно $40–100</a:t>
                      </a:r>
                      <a:r>
                        <a:rPr lang="en-US" sz="1200" kern="0">
                          <a:effectLst/>
                        </a:rPr>
                        <a:t>k</a:t>
                      </a:r>
                      <a:r>
                        <a:rPr lang="ru-RU" sz="1200" kern="0">
                          <a:effectLst/>
                        </a:rPr>
                        <a:t>/год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0449262"/>
                  </a:ext>
                </a:extLst>
              </a:tr>
              <a:tr h="3375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 err="1">
                          <a:solidFill>
                            <a:schemeClr val="tx1"/>
                          </a:solidFill>
                          <a:effectLst/>
                        </a:rPr>
                        <a:t>Конкурент</a:t>
                      </a:r>
                      <a:endParaRPr lang="ru-RU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 err="1">
                          <a:effectLst/>
                        </a:rPr>
                        <a:t>Metaplane</a:t>
                      </a:r>
                      <a:r>
                        <a:rPr lang="en-US" sz="1200" kern="0" dirty="0">
                          <a:effectLst/>
                        </a:rPr>
                        <a:t> / </a:t>
                      </a:r>
                      <a:r>
                        <a:rPr lang="en-US" sz="1200" kern="0" dirty="0" err="1">
                          <a:effectLst/>
                        </a:rPr>
                        <a:t>Datafold</a:t>
                      </a:r>
                      <a:r>
                        <a:rPr lang="en-US" sz="1200" kern="0" dirty="0">
                          <a:effectLst/>
                        </a:rPr>
                        <a:t> (SMB)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effectLst/>
                        </a:rPr>
                        <a:t>$1–3k/</a:t>
                      </a:r>
                      <a:r>
                        <a:rPr lang="en-US" sz="1200" kern="0" dirty="0" err="1">
                          <a:effectLst/>
                        </a:rPr>
                        <a:t>мес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9157039"/>
                  </a:ext>
                </a:extLst>
              </a:tr>
              <a:tr h="3375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 err="1">
                          <a:solidFill>
                            <a:schemeClr val="tx1"/>
                          </a:solidFill>
                          <a:effectLst/>
                        </a:rPr>
                        <a:t>Российский</a:t>
                      </a:r>
                      <a:endParaRPr lang="ru-RU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 err="1">
                          <a:effectLst/>
                        </a:rPr>
                        <a:t>Arenadata</a:t>
                      </a:r>
                      <a:r>
                        <a:rPr lang="en-US" sz="1200" kern="0" dirty="0">
                          <a:effectLst/>
                        </a:rPr>
                        <a:t> (Luna / Catalog)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>
                          <a:effectLst/>
                        </a:rPr>
                        <a:t>2–5 млн ₽/год (оценочно)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6808280"/>
                  </a:ext>
                </a:extLst>
              </a:tr>
              <a:tr h="3375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 err="1">
                          <a:solidFill>
                            <a:schemeClr val="tx1"/>
                          </a:solidFill>
                          <a:effectLst/>
                        </a:rPr>
                        <a:t>Российский</a:t>
                      </a:r>
                      <a:endParaRPr lang="ru-RU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effectLst/>
                        </a:rPr>
                        <a:t>VK Tech Data Platform (</a:t>
                      </a:r>
                      <a:r>
                        <a:rPr lang="en-US" sz="1200" kern="0" dirty="0" err="1">
                          <a:effectLst/>
                        </a:rPr>
                        <a:t>включая</a:t>
                      </a:r>
                      <a:r>
                        <a:rPr lang="en-US" sz="1200" kern="0" dirty="0">
                          <a:effectLst/>
                        </a:rPr>
                        <a:t> DQ)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0">
                          <a:effectLst/>
                        </a:rPr>
                        <a:t>в составе платформы, от 3 млн ₽/год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693763"/>
                  </a:ext>
                </a:extLst>
              </a:tr>
              <a:tr h="3375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 err="1">
                          <a:solidFill>
                            <a:schemeClr val="tx1"/>
                          </a:solidFill>
                          <a:effectLst/>
                        </a:rPr>
                        <a:t>Российский</a:t>
                      </a:r>
                      <a:endParaRPr lang="ru-RU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 err="1">
                          <a:effectLst/>
                        </a:rPr>
                        <a:t>Naumen</a:t>
                      </a:r>
                      <a:r>
                        <a:rPr lang="en-US" sz="1200" kern="0" dirty="0">
                          <a:effectLst/>
                        </a:rPr>
                        <a:t> DQ (</a:t>
                      </a:r>
                      <a:r>
                        <a:rPr lang="en-US" sz="1200" kern="0" dirty="0" err="1">
                          <a:effectLst/>
                        </a:rPr>
                        <a:t>кастомные</a:t>
                      </a:r>
                      <a:r>
                        <a:rPr lang="en-US" sz="1200" kern="0" dirty="0">
                          <a:effectLst/>
                        </a:rPr>
                        <a:t> </a:t>
                      </a:r>
                      <a:r>
                        <a:rPr lang="en-US" sz="1200" kern="0" dirty="0" err="1">
                          <a:effectLst/>
                        </a:rPr>
                        <a:t>проекты</a:t>
                      </a:r>
                      <a:r>
                        <a:rPr lang="en-US" sz="1200" kern="0" dirty="0">
                          <a:effectLst/>
                        </a:rPr>
                        <a:t>)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>
                          <a:effectLst/>
                        </a:rPr>
                        <a:t>от 5–10 млн ₽ за проект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71585947"/>
                  </a:ext>
                </a:extLst>
              </a:tr>
              <a:tr h="3375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 err="1">
                          <a:solidFill>
                            <a:schemeClr val="tx1"/>
                          </a:solidFill>
                          <a:effectLst/>
                        </a:rPr>
                        <a:t>Российский</a:t>
                      </a:r>
                      <a:endParaRPr lang="ru-RU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>
                          <a:effectLst/>
                        </a:rPr>
                        <a:t>Yandex DataLens</a:t>
                      </a:r>
                      <a:r>
                        <a:rPr lang="ru-RU" sz="1200" kern="0">
                          <a:effectLst/>
                        </a:rPr>
                        <a:t> (встроенные </a:t>
                      </a:r>
                      <a:r>
                        <a:rPr lang="en-US" sz="1200" kern="0">
                          <a:effectLst/>
                        </a:rPr>
                        <a:t>DQ</a:t>
                      </a:r>
                      <a:r>
                        <a:rPr lang="ru-RU" sz="1200" kern="0">
                          <a:effectLst/>
                        </a:rPr>
                        <a:t>-проверки)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>
                          <a:effectLst/>
                        </a:rPr>
                        <a:t>бесплатно / pay-as-you-go в облаке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4430479"/>
                  </a:ext>
                </a:extLst>
              </a:tr>
              <a:tr h="3375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tx1"/>
                          </a:solidFill>
                          <a:effectLst/>
                        </a:rPr>
                        <a:t>RU-</a:t>
                      </a:r>
                      <a:r>
                        <a:rPr lang="en-US" sz="1200" kern="0" dirty="0" err="1">
                          <a:solidFill>
                            <a:schemeClr val="tx1"/>
                          </a:solidFill>
                          <a:effectLst/>
                        </a:rPr>
                        <a:t>ориентир</a:t>
                      </a:r>
                      <a:endParaRPr lang="ru-RU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>
                          <a:effectLst/>
                        </a:rPr>
                        <a:t>Free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 err="1">
                          <a:effectLst/>
                        </a:rPr>
                        <a:t>до</a:t>
                      </a:r>
                      <a:r>
                        <a:rPr lang="en-US" sz="1200" kern="0" dirty="0">
                          <a:effectLst/>
                        </a:rPr>
                        <a:t> 5 </a:t>
                      </a:r>
                      <a:r>
                        <a:rPr lang="en-US" sz="1200" kern="0" dirty="0" err="1">
                          <a:effectLst/>
                        </a:rPr>
                        <a:t>датасетов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380169"/>
                  </a:ext>
                </a:extLst>
              </a:tr>
              <a:tr h="3375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tx1"/>
                          </a:solidFill>
                          <a:effectLst/>
                        </a:rPr>
                        <a:t>RU-</a:t>
                      </a:r>
                      <a:r>
                        <a:rPr lang="en-US" sz="1200" kern="0" dirty="0" err="1">
                          <a:solidFill>
                            <a:schemeClr val="tx1"/>
                          </a:solidFill>
                          <a:effectLst/>
                        </a:rPr>
                        <a:t>ориентир</a:t>
                      </a:r>
                      <a:endParaRPr lang="ru-RU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>
                          <a:effectLst/>
                        </a:rPr>
                        <a:t>Team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effectLst/>
                        </a:rPr>
                        <a:t>15–30k ₽/</a:t>
                      </a:r>
                      <a:r>
                        <a:rPr lang="en-US" sz="1200" kern="0" dirty="0" err="1">
                          <a:effectLst/>
                        </a:rPr>
                        <a:t>мес</a:t>
                      </a:r>
                      <a:r>
                        <a:rPr lang="en-US" sz="1200" kern="0" dirty="0">
                          <a:effectLst/>
                        </a:rPr>
                        <a:t> (3–10 </a:t>
                      </a:r>
                      <a:r>
                        <a:rPr lang="en-US" sz="1200" kern="0" dirty="0" err="1">
                          <a:effectLst/>
                        </a:rPr>
                        <a:t>датасетов</a:t>
                      </a:r>
                      <a:r>
                        <a:rPr lang="en-US" sz="1200" kern="0" dirty="0">
                          <a:effectLst/>
                        </a:rPr>
                        <a:t>)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3402061"/>
                  </a:ext>
                </a:extLst>
              </a:tr>
              <a:tr h="3375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tx1"/>
                          </a:solidFill>
                          <a:effectLst/>
                        </a:rPr>
                        <a:t>RU-</a:t>
                      </a:r>
                      <a:r>
                        <a:rPr lang="en-US" sz="1200" kern="0" dirty="0" err="1">
                          <a:solidFill>
                            <a:schemeClr val="tx1"/>
                          </a:solidFill>
                          <a:effectLst/>
                        </a:rPr>
                        <a:t>ориентир</a:t>
                      </a:r>
                      <a:endParaRPr lang="ru-RU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>
                          <a:effectLst/>
                        </a:rPr>
                        <a:t>Business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0" dirty="0">
                          <a:effectLst/>
                        </a:rPr>
                        <a:t>80–150</a:t>
                      </a:r>
                      <a:r>
                        <a:rPr lang="en-US" sz="1200" kern="0" dirty="0">
                          <a:effectLst/>
                        </a:rPr>
                        <a:t>k</a:t>
                      </a:r>
                      <a:r>
                        <a:rPr lang="ru-RU" sz="1200" kern="0" dirty="0">
                          <a:effectLst/>
                        </a:rPr>
                        <a:t> ₽/</a:t>
                      </a:r>
                      <a:r>
                        <a:rPr lang="ru-RU" sz="1200" kern="0" dirty="0" err="1">
                          <a:effectLst/>
                        </a:rPr>
                        <a:t>мес</a:t>
                      </a:r>
                      <a:r>
                        <a:rPr lang="ru-RU" sz="1200" kern="0" dirty="0">
                          <a:effectLst/>
                        </a:rPr>
                        <a:t> (до 50 </a:t>
                      </a:r>
                      <a:r>
                        <a:rPr lang="ru-RU" sz="1200" kern="0" dirty="0" err="1">
                          <a:effectLst/>
                        </a:rPr>
                        <a:t>датасетов</a:t>
                      </a:r>
                      <a:r>
                        <a:rPr lang="ru-RU" sz="1200" kern="0" dirty="0">
                          <a:effectLst/>
                        </a:rPr>
                        <a:t> + </a:t>
                      </a:r>
                      <a:r>
                        <a:rPr lang="en-US" sz="1200" kern="0" dirty="0">
                          <a:effectLst/>
                        </a:rPr>
                        <a:t>ML</a:t>
                      </a:r>
                      <a:r>
                        <a:rPr lang="ru-RU" sz="1200" kern="0" dirty="0">
                          <a:effectLst/>
                        </a:rPr>
                        <a:t>)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9774056"/>
                  </a:ext>
                </a:extLst>
              </a:tr>
              <a:tr h="3375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tx1"/>
                          </a:solidFill>
                          <a:effectLst/>
                        </a:rPr>
                        <a:t>RU-</a:t>
                      </a:r>
                      <a:r>
                        <a:rPr lang="en-US" sz="1200" kern="0" dirty="0" err="1">
                          <a:solidFill>
                            <a:schemeClr val="tx1"/>
                          </a:solidFill>
                          <a:effectLst/>
                        </a:rPr>
                        <a:t>ориентир</a:t>
                      </a:r>
                      <a:endParaRPr lang="ru-RU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effectLst/>
                        </a:rPr>
                        <a:t>Enterprise on-prem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effectLst/>
                        </a:rPr>
                        <a:t>2–6 </a:t>
                      </a:r>
                      <a:r>
                        <a:rPr lang="en-US" sz="1200" kern="0" dirty="0" err="1">
                          <a:effectLst/>
                        </a:rPr>
                        <a:t>млн</a:t>
                      </a:r>
                      <a:r>
                        <a:rPr lang="en-US" sz="1200" kern="0" dirty="0">
                          <a:effectLst/>
                        </a:rPr>
                        <a:t> ₽/</a:t>
                      </a:r>
                      <a:r>
                        <a:rPr lang="en-US" sz="1200" kern="0" dirty="0" err="1">
                          <a:effectLst/>
                        </a:rPr>
                        <a:t>год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927" marR="64927" marT="54106" marB="54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2278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400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5D8AF-33F9-41B0-B14E-3BE92445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170411"/>
            <a:ext cx="10952480" cy="1485900"/>
          </a:xfrm>
        </p:spPr>
        <p:txBody>
          <a:bodyPr>
            <a:normAutofit/>
          </a:bodyPr>
          <a:lstStyle/>
          <a:p>
            <a:r>
              <a:rPr lang="ru-RU" sz="3600" dirty="0"/>
              <a:t>КОНЦЕПЦИЯ ПРОДУКТА</a:t>
            </a:r>
            <a:r>
              <a:rPr lang="en-US" sz="3600" dirty="0"/>
              <a:t> – </a:t>
            </a:r>
            <a:r>
              <a:rPr lang="ru-RU" sz="3600" dirty="0"/>
              <a:t>функционал и ценность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32C3005D-5282-4016-95FE-7EA0476F1F26}"/>
              </a:ext>
            </a:extLst>
          </p:cNvPr>
          <p:cNvSpPr txBox="1">
            <a:spLocks/>
          </p:cNvSpPr>
          <p:nvPr/>
        </p:nvSpPr>
        <p:spPr>
          <a:xfrm>
            <a:off x="1087120" y="905455"/>
            <a:ext cx="10566400" cy="14859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rgbClr val="0F1115"/>
                </a:solidFill>
                <a:latin typeface="quote-cjk-patch"/>
              </a:rPr>
              <a:t>В</a:t>
            </a:r>
            <a:r>
              <a:rPr lang="ru-RU" sz="1800" b="0" i="0" dirty="0">
                <a:solidFill>
                  <a:srgbClr val="0F1115"/>
                </a:solidFill>
                <a:effectLst/>
                <a:latin typeface="quote-cjk-patch"/>
              </a:rPr>
              <a:t>еб-приложение на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1800" b="0" i="0" dirty="0" err="1">
                <a:solidFill>
                  <a:srgbClr val="0F1115"/>
                </a:solidFill>
                <a:effectLst/>
                <a:latin typeface="quote-cjk-patch"/>
              </a:rPr>
              <a:t>Flask</a:t>
            </a:r>
            <a:r>
              <a:rPr lang="ru-RU" sz="1800" b="0" i="0" dirty="0">
                <a:solidFill>
                  <a:srgbClr val="0F1115"/>
                </a:solidFill>
                <a:effectLst/>
                <a:latin typeface="quote-cjk-patch"/>
              </a:rPr>
              <a:t>, которое подключается к </a:t>
            </a:r>
            <a:r>
              <a:rPr lang="ru-RU" sz="1800" b="0" i="0" dirty="0" err="1">
                <a:solidFill>
                  <a:srgbClr val="0F1115"/>
                </a:solidFill>
                <a:effectLst/>
                <a:latin typeface="quote-cjk-patch"/>
              </a:rPr>
              <a:t>PostgreSQL</a:t>
            </a:r>
            <a:endParaRPr lang="ru-RU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ru-RU" sz="1800" b="0" i="0" dirty="0">
                <a:solidFill>
                  <a:srgbClr val="0F1115"/>
                </a:solidFill>
                <a:effectLst/>
                <a:latin typeface="quote-cjk-patch"/>
              </a:rPr>
              <a:t>Система будет собирать профиль данных и гонять проверки по заданным правилам — мы ищем NULL-ы, дубли, пустые значения. Но одних правил мало. Поэтому мы добавляем базовый ML-модуль выявления аномалий. Машинное обучение здесь не заменяет жесткие правила, а дополняет их. Оно нужно, чтобы ловить нетипичное поведение — например, резкий непредсказуемый скачок количества строк или внезапный рост пропусков, который обычной проверкой по порогу не поймать.</a:t>
            </a:r>
          </a:p>
          <a:p>
            <a:r>
              <a:rPr lang="ru-RU" sz="1800" b="1" dirty="0">
                <a:solidFill>
                  <a:srgbClr val="0F1115"/>
                </a:solidFill>
                <a:latin typeface="quote-cjk-patch"/>
              </a:rPr>
              <a:t>ЦЕННОСТЬ СИСТЕМЫ</a:t>
            </a:r>
            <a:r>
              <a:rPr lang="en-US" sz="1800" b="1" dirty="0">
                <a:solidFill>
                  <a:srgbClr val="0F1115"/>
                </a:solidFill>
                <a:latin typeface="quote-cjk-patch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F1115"/>
                </a:solidFill>
                <a:effectLst/>
                <a:latin typeface="quote-cjk-patch"/>
              </a:rPr>
              <a:t>Убирает разрозненность проверок: ключевые сигналы качества собираются в одном интерфейсе.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F1115"/>
                </a:solidFill>
                <a:effectLst/>
                <a:latin typeface="quote-cjk-patch"/>
              </a:rPr>
              <a:t>Снижает долю ручного контроля: часть проверок выполняется автоматически по расписанию или по запросу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F1115"/>
                </a:solidFill>
                <a:effectLst/>
                <a:latin typeface="quote-cjk-patch"/>
              </a:rPr>
              <a:t>Ускоряет обнаружение ошибок: пользователь видит проблемные таблицы, тип проблемы и уровень критичности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F1115"/>
                </a:solidFill>
                <a:effectLst/>
                <a:latin typeface="quote-cjk-patch"/>
              </a:rPr>
              <a:t>Повышает доверие к данным: у команды появляется единый источник статуса качества данных и история проверок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F1115"/>
                </a:solidFill>
                <a:effectLst/>
                <a:latin typeface="quote-cjk-patch"/>
              </a:rPr>
              <a:t>Ускоряет реакцию на инциденты: видны изменения во времени, подозрительные отклонения и потенциальные </a:t>
            </a:r>
            <a:r>
              <a:rPr lang="ru-RU" sz="1800" b="0" i="0" dirty="0" smtClean="0">
                <a:solidFill>
                  <a:srgbClr val="0F1115"/>
                </a:solidFill>
                <a:effectLst/>
                <a:latin typeface="quote-cjk-patch"/>
              </a:rPr>
              <a:t>аномалии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>
              <a:buNone/>
            </a:pP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472786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5D8AF-33F9-41B0-B14E-3BE92445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408582"/>
            <a:ext cx="10952480" cy="1485900"/>
          </a:xfrm>
        </p:spPr>
        <p:txBody>
          <a:bodyPr>
            <a:normAutofit/>
          </a:bodyPr>
          <a:lstStyle/>
          <a:p>
            <a:r>
              <a:rPr lang="ru-RU" sz="3600" dirty="0"/>
              <a:t>КОНЦЕПЦИЯ ПРОДУКТА – сценарии и метрики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32C3005D-5282-4016-95FE-7EA0476F1F26}"/>
              </a:ext>
            </a:extLst>
          </p:cNvPr>
          <p:cNvSpPr txBox="1">
            <a:spLocks/>
          </p:cNvSpPr>
          <p:nvPr/>
        </p:nvSpPr>
        <p:spPr>
          <a:xfrm>
            <a:off x="894080" y="1938939"/>
            <a:ext cx="5323840" cy="179808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ru-RU" sz="1800" dirty="0">
                <a:solidFill>
                  <a:srgbClr val="0F1115"/>
                </a:solidFill>
                <a:latin typeface="quote-cjk-patch"/>
              </a:rPr>
              <a:t>Подключение базы </a:t>
            </a:r>
            <a:r>
              <a:rPr lang="ru-RU" sz="1800" dirty="0" smtClean="0">
                <a:solidFill>
                  <a:srgbClr val="0F1115"/>
                </a:solidFill>
                <a:latin typeface="quote-cjk-patch"/>
              </a:rPr>
              <a:t>данных</a:t>
            </a:r>
            <a:endParaRPr lang="ru-RU" sz="1800" dirty="0">
              <a:solidFill>
                <a:srgbClr val="0F1115"/>
              </a:solidFill>
              <a:latin typeface="quote-cjk-patch"/>
            </a:endParaRPr>
          </a:p>
          <a:p>
            <a:pPr marL="342900" indent="-342900">
              <a:buAutoNum type="arabicPeriod"/>
            </a:pPr>
            <a:r>
              <a:rPr lang="ru-RU" sz="1800" dirty="0">
                <a:solidFill>
                  <a:srgbClr val="0F1115"/>
                </a:solidFill>
                <a:latin typeface="quote-cjk-patch"/>
              </a:rPr>
              <a:t>Быстрая проверка выбранных таблиц </a:t>
            </a:r>
          </a:p>
          <a:p>
            <a:pPr marL="342900" indent="-342900">
              <a:buAutoNum type="arabicPeriod"/>
            </a:pPr>
            <a:r>
              <a:rPr lang="ru-RU" sz="1800" dirty="0">
                <a:solidFill>
                  <a:srgbClr val="0F1115"/>
                </a:solidFill>
                <a:latin typeface="quote-cjk-patch"/>
              </a:rPr>
              <a:t>Получение сигнала о возможной проблеме </a:t>
            </a:r>
          </a:p>
          <a:p>
            <a:pPr marL="342900" indent="-342900">
              <a:buAutoNum type="arabicPeriod"/>
            </a:pPr>
            <a:r>
              <a:rPr lang="ru-RU" sz="1800" dirty="0">
                <a:solidFill>
                  <a:srgbClr val="0F1115"/>
                </a:solidFill>
                <a:latin typeface="quote-cjk-patch"/>
              </a:rPr>
              <a:t>Контроль качества данных в динамике</a:t>
            </a:r>
            <a:endParaRPr lang="en-US" sz="180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6BEFD2D-7679-4BD0-81C1-33068F41AD7A}"/>
              </a:ext>
            </a:extLst>
          </p:cNvPr>
          <p:cNvSpPr txBox="1">
            <a:spLocks/>
          </p:cNvSpPr>
          <p:nvPr/>
        </p:nvSpPr>
        <p:spPr>
          <a:xfrm>
            <a:off x="894080" y="4458907"/>
            <a:ext cx="5323840" cy="179808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ru-RU" sz="1800" dirty="0">
                <a:solidFill>
                  <a:srgbClr val="0F1115"/>
                </a:solidFill>
                <a:latin typeface="quote-cjk-patch"/>
              </a:rPr>
              <a:t>Время до обнаружения проблемы</a:t>
            </a:r>
            <a:r>
              <a:rPr lang="en-US" sz="1800" dirty="0">
                <a:solidFill>
                  <a:srgbClr val="0F1115"/>
                </a:solidFill>
                <a:latin typeface="quote-cjk-patch"/>
              </a:rPr>
              <a:t> </a:t>
            </a:r>
          </a:p>
          <a:p>
            <a:pPr marL="342900" indent="-342900">
              <a:buAutoNum type="arabicPeriod"/>
            </a:pPr>
            <a:r>
              <a:rPr lang="ru-RU" sz="1800" dirty="0">
                <a:solidFill>
                  <a:srgbClr val="0F1115"/>
                </a:solidFill>
                <a:latin typeface="quote-cjk-patch"/>
              </a:rPr>
              <a:t>Доля автоматически выявленных проблем</a:t>
            </a:r>
            <a:r>
              <a:rPr lang="en-US" sz="1800" dirty="0">
                <a:solidFill>
                  <a:srgbClr val="0F1115"/>
                </a:solidFill>
                <a:latin typeface="quote-cjk-patch"/>
              </a:rPr>
              <a:t> </a:t>
            </a:r>
          </a:p>
          <a:p>
            <a:pPr marL="342900" indent="-342900">
              <a:buAutoNum type="arabicPeriod"/>
            </a:pPr>
            <a:r>
              <a:rPr lang="ru-RU" sz="1800" dirty="0">
                <a:solidFill>
                  <a:srgbClr val="0F1115"/>
                </a:solidFill>
                <a:latin typeface="quote-cjk-patch"/>
              </a:rPr>
              <a:t>Доля ложных срабатываний</a:t>
            </a:r>
            <a:endParaRPr lang="en-US" sz="1800" dirty="0">
              <a:solidFill>
                <a:srgbClr val="0F1115"/>
              </a:solidFill>
              <a:latin typeface="quote-cjk-patch"/>
            </a:endParaRPr>
          </a:p>
          <a:p>
            <a:pPr marL="342900" indent="-342900">
              <a:buAutoNum type="arabicPeriod"/>
            </a:pPr>
            <a:r>
              <a:rPr lang="ru-RU" sz="1800" dirty="0">
                <a:solidFill>
                  <a:srgbClr val="0F1115"/>
                </a:solidFill>
                <a:latin typeface="quote-cjk-patch"/>
              </a:rPr>
              <a:t>Сокращение времени на ручные проверки</a:t>
            </a:r>
            <a:endParaRPr lang="en-US" sz="180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A5FBD72-DD7F-484B-99E8-EF4C0E8F3941}"/>
              </a:ext>
            </a:extLst>
          </p:cNvPr>
          <p:cNvSpPr txBox="1">
            <a:spLocks/>
          </p:cNvSpPr>
          <p:nvPr/>
        </p:nvSpPr>
        <p:spPr>
          <a:xfrm>
            <a:off x="867410" y="1529250"/>
            <a:ext cx="11168379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/>
              <a:t>ПОЛЬЗОВАТЕЛЬСКИЕ СЦЕНАРИИ</a:t>
            </a:r>
            <a:r>
              <a:rPr lang="en-US" sz="2000" b="1" dirty="0"/>
              <a:t>:</a:t>
            </a:r>
            <a:endParaRPr lang="ru-RU" sz="2000" b="1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8205F40-372B-4144-AACA-1B09B1F685F7}"/>
              </a:ext>
            </a:extLst>
          </p:cNvPr>
          <p:cNvSpPr txBox="1">
            <a:spLocks/>
          </p:cNvSpPr>
          <p:nvPr/>
        </p:nvSpPr>
        <p:spPr>
          <a:xfrm>
            <a:off x="867411" y="4044889"/>
            <a:ext cx="5472430" cy="4140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/>
              <a:t>ОСНОВНЫЕ МЕТРИКИ УСПЕШНОСТИ</a:t>
            </a:r>
            <a:r>
              <a:rPr lang="en-US" sz="2000" b="1" dirty="0"/>
              <a:t>:</a:t>
            </a:r>
            <a:endParaRPr lang="ru-RU" sz="2000" b="1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5C27F036-DF8A-4D88-8F0A-D2117F458DE7}"/>
              </a:ext>
            </a:extLst>
          </p:cNvPr>
          <p:cNvSpPr txBox="1">
            <a:spLocks/>
          </p:cNvSpPr>
          <p:nvPr/>
        </p:nvSpPr>
        <p:spPr>
          <a:xfrm>
            <a:off x="6715759" y="4458907"/>
            <a:ext cx="5323840" cy="179808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ru-RU" sz="1800" dirty="0">
                <a:solidFill>
                  <a:srgbClr val="0F1115"/>
                </a:solidFill>
                <a:latin typeface="quote-cjk-patch"/>
              </a:rPr>
              <a:t>Доля критичных таблиц, покрытых проверками</a:t>
            </a:r>
          </a:p>
          <a:p>
            <a:pPr marL="342900" indent="-342900">
              <a:buAutoNum type="arabicPeriod"/>
            </a:pPr>
            <a:r>
              <a:rPr lang="ru-RU" sz="1800" dirty="0">
                <a:solidFill>
                  <a:srgbClr val="0F1115"/>
                </a:solidFill>
                <a:latin typeface="quote-cjk-patch"/>
              </a:rPr>
              <a:t>Время выполнения проверки 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18E47B6F-749D-4761-BC2C-52FB60AE14C9}"/>
              </a:ext>
            </a:extLst>
          </p:cNvPr>
          <p:cNvSpPr txBox="1">
            <a:spLocks/>
          </p:cNvSpPr>
          <p:nvPr/>
        </p:nvSpPr>
        <p:spPr>
          <a:xfrm>
            <a:off x="6689090" y="4044889"/>
            <a:ext cx="5472430" cy="41401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/>
              <a:t>ВСПОМОГАТЕЛЬНЫЕ МЕТРИКИ УСПЕШНОСТИ</a:t>
            </a:r>
            <a:r>
              <a:rPr lang="en-US" sz="2400" b="1" dirty="0"/>
              <a:t>:</a:t>
            </a:r>
            <a:endParaRPr lang="ru-RU" sz="2400" b="1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CE98DD2A-B124-4212-8EB9-266A0384DAAE}"/>
              </a:ext>
            </a:extLst>
          </p:cNvPr>
          <p:cNvSpPr txBox="1">
            <a:spLocks/>
          </p:cNvSpPr>
          <p:nvPr/>
        </p:nvSpPr>
        <p:spPr>
          <a:xfrm>
            <a:off x="6742429" y="1960011"/>
            <a:ext cx="5323840" cy="179808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ru-RU" sz="1800" dirty="0" smtClean="0">
                <a:solidFill>
                  <a:srgbClr val="0F1115"/>
                </a:solidFill>
                <a:latin typeface="quote-cjk-patch"/>
              </a:rPr>
              <a:t>Обзор</a:t>
            </a:r>
            <a:endParaRPr lang="ru-RU" sz="1800" dirty="0">
              <a:solidFill>
                <a:srgbClr val="0F1115"/>
              </a:solidFill>
              <a:latin typeface="quote-cjk-patch"/>
            </a:endParaRPr>
          </a:p>
          <a:p>
            <a:pPr marL="342900" indent="-342900">
              <a:buAutoNum type="arabicPeriod"/>
            </a:pPr>
            <a:r>
              <a:rPr lang="ru-RU" sz="1800" dirty="0" smtClean="0">
                <a:solidFill>
                  <a:srgbClr val="0F1115"/>
                </a:solidFill>
                <a:latin typeface="quote-cjk-patch"/>
              </a:rPr>
              <a:t>Таблицы</a:t>
            </a:r>
            <a:endParaRPr lang="ru-RU" sz="1800" dirty="0">
              <a:solidFill>
                <a:srgbClr val="0F1115"/>
              </a:solidFill>
              <a:latin typeface="quote-cjk-patch"/>
            </a:endParaRPr>
          </a:p>
          <a:p>
            <a:pPr marL="342900" indent="-342900">
              <a:buAutoNum type="arabicPeriod"/>
            </a:pPr>
            <a:r>
              <a:rPr lang="ru-RU" sz="1800" dirty="0" smtClean="0">
                <a:solidFill>
                  <a:srgbClr val="0F1115"/>
                </a:solidFill>
                <a:latin typeface="quote-cjk-patch"/>
              </a:rPr>
              <a:t>Схемы</a:t>
            </a:r>
            <a:endParaRPr lang="ru-RU" sz="1800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241C62B-1670-4588-B8F9-D55720001FC9}"/>
              </a:ext>
            </a:extLst>
          </p:cNvPr>
          <p:cNvSpPr txBox="1">
            <a:spLocks/>
          </p:cNvSpPr>
          <p:nvPr/>
        </p:nvSpPr>
        <p:spPr>
          <a:xfrm>
            <a:off x="6715760" y="1503667"/>
            <a:ext cx="4947506" cy="13049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/>
              <a:t>ИНТЕРФЕЙС</a:t>
            </a:r>
            <a:r>
              <a:rPr lang="en-US" sz="2000" b="1" dirty="0"/>
              <a:t>: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651831683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Глянец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D7AA1D6E-F3E9-4763-A3BC-84DF2E02F6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422</TotalTime>
  <Words>1012</Words>
  <Application>Microsoft Office PowerPoint</Application>
  <PresentationFormat>Широкоэкранный</PresentationFormat>
  <Paragraphs>124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Aptos</vt:lpstr>
      <vt:lpstr>Arial</vt:lpstr>
      <vt:lpstr>Capturanow</vt:lpstr>
      <vt:lpstr>Franklin Gothic Book</vt:lpstr>
      <vt:lpstr>quote-cjk-patch</vt:lpstr>
      <vt:lpstr>Roboto</vt:lpstr>
      <vt:lpstr>Times New Roman</vt:lpstr>
      <vt:lpstr>Уголки</vt:lpstr>
      <vt:lpstr>СИСТЕМА МОНИТОРИНГА ДАННЫХ В БД (Flask)</vt:lpstr>
      <vt:lpstr>ПРОБЛЕМА</vt:lpstr>
      <vt:lpstr>ЦЕЛЕВАЯ АУДИТОРИЯ</vt:lpstr>
      <vt:lpstr>ПОРТРЕТ ЦА</vt:lpstr>
      <vt:lpstr>АНАЛИЗ КОНКУРЕНТОВ - Что на рынке? </vt:lpstr>
      <vt:lpstr>АНАЛИЗ КОНКУРЕНТОВ - Где мы?</vt:lpstr>
      <vt:lpstr>АНАЛИЗ КОНКУРЕНТОВ (сравнение)</vt:lpstr>
      <vt:lpstr>PRICING BENCHMARK + ориентиры RU</vt:lpstr>
      <vt:lpstr>КОНЦЕПЦИЯ ПРОДУКТА – функционал и ценность</vt:lpstr>
      <vt:lpstr>КОНЦЕПЦИЯ ПРОДУКТА – сценарии и метрики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МОНИТОРИНГА ДАННЫХ В БД (Flask)</dc:title>
  <dc:creator>Алена</dc:creator>
  <cp:lastModifiedBy>Фахртдинов Раиль Ранасович</cp:lastModifiedBy>
  <cp:revision>67</cp:revision>
  <dcterms:created xsi:type="dcterms:W3CDTF">2026-04-28T20:12:31Z</dcterms:created>
  <dcterms:modified xsi:type="dcterms:W3CDTF">2026-04-29T13:02:06Z</dcterms:modified>
</cp:coreProperties>
</file>