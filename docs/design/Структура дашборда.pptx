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6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55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Проблемы</c:v>
                </c:pt>
              </c:strCache>
            </c:strRef>
          </c:tx>
          <c:spPr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12.04</c:v>
                </c:pt>
                <c:pt idx="1">
                  <c:v>13.04</c:v>
                </c:pt>
                <c:pt idx="2">
                  <c:v>14.04</c:v>
                </c:pt>
                <c:pt idx="3">
                  <c:v>15.04</c:v>
                </c:pt>
                <c:pt idx="4">
                  <c:v>16.04</c:v>
                </c:pt>
                <c:pt idx="5">
                  <c:v>17.04</c:v>
                </c:pt>
                <c:pt idx="6">
                  <c:v>18.04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</c:v>
                </c:pt>
                <c:pt idx="1">
                  <c:v>35</c:v>
                </c:pt>
                <c:pt idx="2">
                  <c:v>29</c:v>
                </c:pt>
                <c:pt idx="3">
                  <c:v>41</c:v>
                </c:pt>
                <c:pt idx="4">
                  <c:v>38</c:v>
                </c:pt>
                <c:pt idx="5">
                  <c:v>44</c:v>
                </c:pt>
                <c:pt idx="6">
                  <c:v>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428-466F-AAA5-D197445F08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Аномалии</c:v>
                </c:pt>
              </c:strCache>
            </c:strRef>
          </c:tx>
          <c:spPr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12.04</c:v>
                </c:pt>
                <c:pt idx="1">
                  <c:v>13.04</c:v>
                </c:pt>
                <c:pt idx="2">
                  <c:v>14.04</c:v>
                </c:pt>
                <c:pt idx="3">
                  <c:v>15.04</c:v>
                </c:pt>
                <c:pt idx="4">
                  <c:v>16.04</c:v>
                </c:pt>
                <c:pt idx="5">
                  <c:v>17.04</c:v>
                </c:pt>
                <c:pt idx="6">
                  <c:v>18.04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6</c:v>
                </c:pt>
                <c:pt idx="4">
                  <c:v>5</c:v>
                </c:pt>
                <c:pt idx="5">
                  <c:v>7</c:v>
                </c:pt>
                <c:pt idx="6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428-466F-AAA5-D197445F08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Проблемы</c:v>
                </c:pt>
              </c:strCache>
            </c:strRef>
          </c:tx>
          <c:spPr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12.04</c:v>
                </c:pt>
                <c:pt idx="1">
                  <c:v>13.04</c:v>
                </c:pt>
                <c:pt idx="2">
                  <c:v>14.04</c:v>
                </c:pt>
                <c:pt idx="3">
                  <c:v>15.04</c:v>
                </c:pt>
                <c:pt idx="4">
                  <c:v>16.04</c:v>
                </c:pt>
                <c:pt idx="5">
                  <c:v>17.04</c:v>
                </c:pt>
                <c:pt idx="6">
                  <c:v>18.04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5</c:v>
                </c:pt>
                <c:pt idx="2">
                  <c:v>7</c:v>
                </c:pt>
                <c:pt idx="3">
                  <c:v>10</c:v>
                </c:pt>
                <c:pt idx="4">
                  <c:v>13</c:v>
                </c:pt>
                <c:pt idx="5">
                  <c:v>18</c:v>
                </c:pt>
                <c:pt idx="6">
                  <c:v>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84-43DD-8152-3F7035FF47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Пропуски</c:v>
                </c:pt>
              </c:strCache>
            </c:strRef>
          </c:tx>
          <c:spPr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12.04</c:v>
                </c:pt>
                <c:pt idx="1">
                  <c:v>13.04</c:v>
                </c:pt>
                <c:pt idx="2">
                  <c:v>14.04</c:v>
                </c:pt>
                <c:pt idx="3">
                  <c:v>15.04</c:v>
                </c:pt>
                <c:pt idx="4">
                  <c:v>16.04</c:v>
                </c:pt>
                <c:pt idx="5">
                  <c:v>17.04</c:v>
                </c:pt>
                <c:pt idx="6">
                  <c:v>18.04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8</c:v>
                </c:pt>
                <c:pt idx="4">
                  <c:v>11</c:v>
                </c:pt>
                <c:pt idx="5">
                  <c:v>15</c:v>
                </c:pt>
                <c:pt idx="6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C84-43DD-8152-3F7035FF47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567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9">
            <a:extLst>
              <a:ext uri="{FF2B5EF4-FFF2-40B4-BE49-F238E27FC236}">
                <a16:creationId xmlns:a16="http://schemas.microsoft.com/office/drawing/2014/main" id="{3A88A318-8849-2CF0-A40D-109411D28BBD}"/>
              </a:ext>
            </a:extLst>
          </p:cNvPr>
          <p:cNvSpPr/>
          <p:nvPr/>
        </p:nvSpPr>
        <p:spPr>
          <a:xfrm>
            <a:off x="5135879" y="1005841"/>
            <a:ext cx="6331929" cy="1181132"/>
          </a:xfrm>
          <a:prstGeom prst="roundRect">
            <a:avLst>
              <a:gd name="adj" fmla="val 10909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sp>
      <p:sp>
        <p:nvSpPr>
          <p:cNvPr id="2" name="Text 0"/>
          <p:cNvSpPr/>
          <p:nvPr/>
        </p:nvSpPr>
        <p:spPr>
          <a:xfrm>
            <a:off x="411480" y="278799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37"/>
                </a:solidFill>
              </a:rPr>
              <a:t>Система мониторинга данных в БД </a:t>
            </a:r>
            <a:r>
              <a:rPr lang="ru-RU" sz="2400" b="1" dirty="0">
                <a:solidFill>
                  <a:srgbClr val="1F2A37"/>
                </a:solidFill>
              </a:rPr>
              <a:t>(</a:t>
            </a:r>
            <a:r>
              <a:rPr lang="en-US" sz="2400" b="1" dirty="0">
                <a:solidFill>
                  <a:srgbClr val="1F2A37"/>
                </a:solidFill>
              </a:rPr>
              <a:t>MVP</a:t>
            </a:r>
            <a:r>
              <a:rPr lang="ru-RU" sz="2400" b="1" dirty="0">
                <a:solidFill>
                  <a:srgbClr val="1F2A37"/>
                </a:solidFill>
              </a:rPr>
              <a:t>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109322" y="234486"/>
            <a:ext cx="1699523" cy="418289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92106" y="291294"/>
            <a:ext cx="1933956" cy="418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950" dirty="0">
                <a:solidFill>
                  <a:srgbClr val="5B6B7F"/>
                </a:solidFill>
              </a:rPr>
              <a:t>Последняя проверка: </a:t>
            </a:r>
          </a:p>
          <a:p>
            <a:pPr marL="0" indent="0" algn="ctr">
              <a:buNone/>
            </a:pPr>
            <a:r>
              <a:rPr lang="ru-RU" sz="950" dirty="0">
                <a:solidFill>
                  <a:srgbClr val="5B6B7F"/>
                </a:solidFill>
              </a:rPr>
              <a:t>14:35, 18.04.2026</a:t>
            </a:r>
          </a:p>
          <a:p>
            <a:pPr marL="0" indent="0" algn="ctr">
              <a:buNone/>
            </a:pPr>
            <a:r>
              <a:rPr lang="ru-RU" sz="950" dirty="0">
                <a:solidFill>
                  <a:srgbClr val="5B6B7F"/>
                </a:solidFill>
              </a:rPr>
              <a:t> </a:t>
            </a:r>
          </a:p>
        </p:txBody>
      </p:sp>
      <p:sp>
        <p:nvSpPr>
          <p:cNvPr id="6" name="Shape 4"/>
          <p:cNvSpPr/>
          <p:nvPr/>
        </p:nvSpPr>
        <p:spPr>
          <a:xfrm>
            <a:off x="457199" y="1005840"/>
            <a:ext cx="2151415" cy="1179576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170432"/>
            <a:ext cx="91440" cy="67665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160657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F"/>
                </a:solidFill>
              </a:rPr>
              <a:t>Таблиц под мониторингом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2604" y="1462633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</a:rPr>
              <a:t>24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87340" y="1813915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B6B7F"/>
                </a:solidFill>
              </a:rPr>
              <a:t>всего объектов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2796539" y="1005840"/>
            <a:ext cx="2156671" cy="1179576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61132" y="1170432"/>
            <a:ext cx="91440" cy="676656"/>
          </a:xfrm>
          <a:prstGeom prst="roundRect">
            <a:avLst>
              <a:gd name="adj" fmla="val 50000"/>
            </a:avLst>
          </a:prstGeom>
          <a:solidFill>
            <a:srgbClr val="20A464"/>
          </a:solidFill>
          <a:ln w="12700">
            <a:solidFill>
              <a:srgbClr val="20A4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8292" y="1096649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F"/>
                </a:solidFill>
              </a:rPr>
              <a:t>Таблиц в норме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98292" y="133386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</a:rPr>
              <a:t>16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116580" y="1798215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B6B7F"/>
                </a:solidFill>
              </a:rPr>
              <a:t>без критичных отклонений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7813666" y="1197818"/>
            <a:ext cx="24545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F"/>
                </a:solidFill>
              </a:rPr>
              <a:t>Проблемных таблиц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48539" y="1085773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</a:rPr>
              <a:t>8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19797" y="1625597"/>
            <a:ext cx="2758459" cy="501568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07282" y="1695482"/>
            <a:ext cx="91440" cy="345867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49350" y="1725962"/>
            <a:ext cx="17184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F"/>
                </a:solidFill>
              </a:rPr>
              <a:t>Критичных проблем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52981" y="16745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</a:rPr>
              <a:t>12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710879" y="19214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B6B7F"/>
                </a:solidFill>
              </a:rPr>
              <a:t>требуют внимания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8440653" y="1632408"/>
            <a:ext cx="2758458" cy="494749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576809" y="1698528"/>
            <a:ext cx="86110" cy="347473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21079" y="1713331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F"/>
                </a:solidFill>
              </a:rPr>
              <a:t>Аномалии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701195" y="1667627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</a:rPr>
              <a:t>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819464" y="190598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B6B7F"/>
                </a:solidFill>
              </a:rPr>
              <a:t>по 24 таблицам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457200" y="2532888"/>
            <a:ext cx="3854196" cy="3246753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6324" y="2822343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</a:rPr>
              <a:t>Проблемные таблицы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09758" y="314957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</a:rPr>
              <a:t>На что смотреть в первую очередь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2326" y="3195290"/>
            <a:ext cx="956930" cy="347472"/>
          </a:xfrm>
          <a:prstGeom prst="rect">
            <a:avLst/>
          </a:prstGeom>
          <a:solidFill>
            <a:srgbClr val="EEF3FB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8902" y="3268442"/>
            <a:ext cx="88377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A37"/>
                </a:solidFill>
              </a:rPr>
              <a:t>Таблица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1639256" y="3195290"/>
            <a:ext cx="837314" cy="347472"/>
          </a:xfrm>
          <a:prstGeom prst="rect">
            <a:avLst/>
          </a:prstGeom>
          <a:solidFill>
            <a:srgbClr val="EEF3FB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75832" y="3268442"/>
            <a:ext cx="76416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A37"/>
                </a:solidFill>
              </a:rPr>
              <a:t>Статус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2476570" y="3195290"/>
            <a:ext cx="598081" cy="347472"/>
          </a:xfrm>
          <a:prstGeom prst="rect">
            <a:avLst/>
          </a:prstGeom>
          <a:solidFill>
            <a:srgbClr val="EEF3FB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13146" y="3268442"/>
            <a:ext cx="524929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A37"/>
                </a:solidFill>
              </a:rPr>
              <a:t>Проблем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3074652" y="3195290"/>
            <a:ext cx="1036674" cy="347472"/>
          </a:xfrm>
          <a:prstGeom prst="rect">
            <a:avLst/>
          </a:prstGeom>
          <a:solidFill>
            <a:srgbClr val="EEF3FB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11228" y="3268442"/>
            <a:ext cx="96352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A37"/>
                </a:solidFill>
              </a:rPr>
              <a:t>Ключевая причина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82326" y="3542762"/>
            <a:ext cx="95693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8902" y="3615914"/>
            <a:ext cx="88377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orders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1639256" y="3542762"/>
            <a:ext cx="83731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687615" y="3600489"/>
            <a:ext cx="788989" cy="195425"/>
          </a:xfrm>
          <a:prstGeom prst="roundRect">
            <a:avLst>
              <a:gd name="adj" fmla="val 4285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55577" y="3638774"/>
            <a:ext cx="85039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4545"/>
                </a:solidFill>
              </a:rPr>
              <a:t>Критично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476570" y="3542762"/>
            <a:ext cx="598081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13146" y="3615914"/>
            <a:ext cx="524929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12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3074652" y="3542762"/>
            <a:ext cx="10366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11228" y="3615914"/>
            <a:ext cx="96352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NULL, дубли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682326" y="3890234"/>
            <a:ext cx="95693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8902" y="3963386"/>
            <a:ext cx="95693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support_tickets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1639256" y="3890234"/>
            <a:ext cx="83731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669527" y="3947865"/>
            <a:ext cx="800298" cy="206890"/>
          </a:xfrm>
          <a:prstGeom prst="roundRect">
            <a:avLst>
              <a:gd name="adj" fmla="val 4285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55577" y="3986246"/>
            <a:ext cx="85039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4545"/>
                </a:solidFill>
              </a:rPr>
              <a:t>Критично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476570" y="3890234"/>
            <a:ext cx="598081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13146" y="3963386"/>
            <a:ext cx="524929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10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3074652" y="3890234"/>
            <a:ext cx="10366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111228" y="3963386"/>
            <a:ext cx="96352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формат, диапазон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682326" y="4237706"/>
            <a:ext cx="95693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8902" y="4310858"/>
            <a:ext cx="88377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deliveries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1639256" y="4237706"/>
            <a:ext cx="83731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87615" y="4281123"/>
            <a:ext cx="788989" cy="201168"/>
          </a:xfrm>
          <a:prstGeom prst="roundRect">
            <a:avLst>
              <a:gd name="adj" fmla="val 4285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655577" y="4333718"/>
            <a:ext cx="85039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4545"/>
                </a:solidFill>
              </a:rPr>
              <a:t>Критично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476570" y="4237706"/>
            <a:ext cx="598081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13146" y="4310858"/>
            <a:ext cx="524929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9</a:t>
            </a: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3074652" y="4237706"/>
            <a:ext cx="10366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111228" y="4310858"/>
            <a:ext cx="96352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NULL, аномалия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682326" y="4585178"/>
            <a:ext cx="95693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8902" y="4658330"/>
            <a:ext cx="88377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payments</a:t>
            </a:r>
            <a:endParaRPr lang="en-US" sz="880" dirty="0"/>
          </a:p>
        </p:txBody>
      </p:sp>
      <p:sp>
        <p:nvSpPr>
          <p:cNvPr id="76" name="Shape 74"/>
          <p:cNvSpPr/>
          <p:nvPr/>
        </p:nvSpPr>
        <p:spPr>
          <a:xfrm>
            <a:off x="1639256" y="4585178"/>
            <a:ext cx="83731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692040" y="4653758"/>
            <a:ext cx="780289" cy="187452"/>
          </a:xfrm>
          <a:prstGeom prst="roundRect">
            <a:avLst>
              <a:gd name="adj" fmla="val 42857"/>
            </a:avLst>
          </a:prstGeom>
          <a:solidFill>
            <a:srgbClr val="FFF6E1"/>
          </a:solidFill>
          <a:ln w="12700">
            <a:solidFill>
              <a:srgbClr val="FFF6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55577" y="4681190"/>
            <a:ext cx="85039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9800"/>
                </a:solidFill>
              </a:rPr>
              <a:t>Предупр.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476570" y="4585178"/>
            <a:ext cx="598081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513146" y="4658330"/>
            <a:ext cx="524929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6</a:t>
            </a:r>
            <a:endParaRPr lang="en-US" sz="880" dirty="0"/>
          </a:p>
        </p:txBody>
      </p:sp>
      <p:sp>
        <p:nvSpPr>
          <p:cNvPr id="81" name="Shape 79"/>
          <p:cNvSpPr/>
          <p:nvPr/>
        </p:nvSpPr>
        <p:spPr>
          <a:xfrm>
            <a:off x="3074652" y="4585178"/>
            <a:ext cx="10366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11228" y="4658330"/>
            <a:ext cx="96352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дубли</a:t>
            </a:r>
            <a:endParaRPr lang="en-US" sz="880" dirty="0"/>
          </a:p>
        </p:txBody>
      </p:sp>
      <p:sp>
        <p:nvSpPr>
          <p:cNvPr id="83" name="Shape 81"/>
          <p:cNvSpPr/>
          <p:nvPr/>
        </p:nvSpPr>
        <p:spPr>
          <a:xfrm>
            <a:off x="682326" y="4932650"/>
            <a:ext cx="95693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8902" y="5005802"/>
            <a:ext cx="88377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crm_leads</a:t>
            </a:r>
            <a:endParaRPr lang="en-US" sz="880" dirty="0"/>
          </a:p>
        </p:txBody>
      </p:sp>
      <p:sp>
        <p:nvSpPr>
          <p:cNvPr id="85" name="Shape 83"/>
          <p:cNvSpPr/>
          <p:nvPr/>
        </p:nvSpPr>
        <p:spPr>
          <a:xfrm>
            <a:off x="1639256" y="4932650"/>
            <a:ext cx="83731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677426" y="4997809"/>
            <a:ext cx="837315" cy="217153"/>
          </a:xfrm>
          <a:prstGeom prst="roundRect">
            <a:avLst>
              <a:gd name="adj" fmla="val 42857"/>
            </a:avLst>
          </a:prstGeom>
          <a:solidFill>
            <a:srgbClr val="FFF6E1"/>
          </a:solidFill>
          <a:ln w="12700">
            <a:solidFill>
              <a:srgbClr val="FFF6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655577" y="5028662"/>
            <a:ext cx="85039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9800"/>
                </a:solidFill>
              </a:rPr>
              <a:t>Предупр.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476570" y="4932650"/>
            <a:ext cx="598081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513146" y="5005802"/>
            <a:ext cx="524929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5</a:t>
            </a:r>
            <a:endParaRPr lang="en-US" sz="880" dirty="0"/>
          </a:p>
        </p:txBody>
      </p:sp>
      <p:sp>
        <p:nvSpPr>
          <p:cNvPr id="90" name="Shape 88"/>
          <p:cNvSpPr/>
          <p:nvPr/>
        </p:nvSpPr>
        <p:spPr>
          <a:xfrm>
            <a:off x="3074652" y="4932650"/>
            <a:ext cx="103667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111228" y="5005802"/>
            <a:ext cx="96352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NULL</a:t>
            </a:r>
            <a:endParaRPr lang="en-US" sz="880" dirty="0"/>
          </a:p>
        </p:txBody>
      </p:sp>
      <p:sp>
        <p:nvSpPr>
          <p:cNvPr id="92" name="Shape 90"/>
          <p:cNvSpPr/>
          <p:nvPr/>
        </p:nvSpPr>
        <p:spPr>
          <a:xfrm>
            <a:off x="4433698" y="2525474"/>
            <a:ext cx="3435858" cy="3246753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3" name="Text 91"/>
          <p:cNvSpPr/>
          <p:nvPr/>
        </p:nvSpPr>
        <p:spPr>
          <a:xfrm>
            <a:off x="4729308" y="2721759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</a:rPr>
              <a:t>Распределение проблем</a:t>
            </a:r>
            <a:endParaRPr lang="en-US" sz="1350" dirty="0"/>
          </a:p>
        </p:txBody>
      </p:sp>
      <p:sp>
        <p:nvSpPr>
          <p:cNvPr id="94" name="Text 92"/>
          <p:cNvSpPr/>
          <p:nvPr/>
        </p:nvSpPr>
        <p:spPr>
          <a:xfrm>
            <a:off x="4729308" y="2950359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</a:rPr>
              <a:t>Какие типы нарушений встречаются чаще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5018868" y="3819039"/>
            <a:ext cx="294803" cy="1051560"/>
          </a:xfrm>
          <a:prstGeom prst="roundRect">
            <a:avLst>
              <a:gd name="adj" fmla="val 12407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944494" y="4915273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5B6B7F"/>
                </a:solidFill>
              </a:rPr>
              <a:t>NULL</a:t>
            </a:r>
            <a:endParaRPr lang="en-US" sz="820" dirty="0"/>
          </a:p>
        </p:txBody>
      </p:sp>
      <p:sp>
        <p:nvSpPr>
          <p:cNvPr id="97" name="Text 95"/>
          <p:cNvSpPr/>
          <p:nvPr/>
        </p:nvSpPr>
        <p:spPr>
          <a:xfrm>
            <a:off x="5000580" y="3654447"/>
            <a:ext cx="331379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5B6B7F"/>
                </a:solidFill>
              </a:rPr>
              <a:t>17</a:t>
            </a:r>
            <a:endParaRPr lang="en-US" sz="820" dirty="0"/>
          </a:p>
        </p:txBody>
      </p:sp>
      <p:sp>
        <p:nvSpPr>
          <p:cNvPr id="98" name="Shape 96"/>
          <p:cNvSpPr/>
          <p:nvPr/>
        </p:nvSpPr>
        <p:spPr>
          <a:xfrm>
            <a:off x="5494356" y="4313891"/>
            <a:ext cx="294803" cy="556708"/>
          </a:xfrm>
          <a:prstGeom prst="roundRect">
            <a:avLst>
              <a:gd name="adj" fmla="val 12407"/>
            </a:avLst>
          </a:prstGeom>
          <a:solidFill>
            <a:srgbClr val="D99800"/>
          </a:solidFill>
          <a:ln w="12700">
            <a:solidFill>
              <a:srgbClr val="D9980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389584" y="4907981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5B6B7F"/>
                </a:solidFill>
              </a:rPr>
              <a:t>Дубли</a:t>
            </a:r>
            <a:endParaRPr lang="en-US" sz="820" dirty="0"/>
          </a:p>
        </p:txBody>
      </p:sp>
      <p:sp>
        <p:nvSpPr>
          <p:cNvPr id="100" name="Text 98"/>
          <p:cNvSpPr/>
          <p:nvPr/>
        </p:nvSpPr>
        <p:spPr>
          <a:xfrm>
            <a:off x="5476068" y="4149299"/>
            <a:ext cx="331379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5B6B7F"/>
                </a:solidFill>
              </a:rPr>
              <a:t>9</a:t>
            </a:r>
            <a:endParaRPr lang="en-US" sz="820" dirty="0"/>
          </a:p>
        </p:txBody>
      </p:sp>
      <p:sp>
        <p:nvSpPr>
          <p:cNvPr id="101" name="Shape 99"/>
          <p:cNvSpPr/>
          <p:nvPr/>
        </p:nvSpPr>
        <p:spPr>
          <a:xfrm>
            <a:off x="5969844" y="4375747"/>
            <a:ext cx="294803" cy="494852"/>
          </a:xfrm>
          <a:prstGeom prst="roundRect">
            <a:avLst>
              <a:gd name="adj" fmla="val 12407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906243" y="4902984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5B6B7F"/>
                </a:solidFill>
              </a:rPr>
              <a:t>Диап.</a:t>
            </a:r>
            <a:endParaRPr lang="en-US" sz="820" dirty="0"/>
          </a:p>
        </p:txBody>
      </p:sp>
      <p:sp>
        <p:nvSpPr>
          <p:cNvPr id="103" name="Text 101"/>
          <p:cNvSpPr/>
          <p:nvPr/>
        </p:nvSpPr>
        <p:spPr>
          <a:xfrm>
            <a:off x="5951556" y="4211155"/>
            <a:ext cx="331379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5B6B7F"/>
                </a:solidFill>
              </a:rPr>
              <a:t>8</a:t>
            </a:r>
            <a:endParaRPr lang="en-US" sz="820" dirty="0"/>
          </a:p>
        </p:txBody>
      </p:sp>
      <p:sp>
        <p:nvSpPr>
          <p:cNvPr id="104" name="Shape 102"/>
          <p:cNvSpPr/>
          <p:nvPr/>
        </p:nvSpPr>
        <p:spPr>
          <a:xfrm>
            <a:off x="6445332" y="4499460"/>
            <a:ext cx="294803" cy="371139"/>
          </a:xfrm>
          <a:prstGeom prst="roundRect">
            <a:avLst>
              <a:gd name="adj" fmla="val 12407"/>
            </a:avLst>
          </a:prstGeom>
          <a:solidFill>
            <a:srgbClr val="20A464"/>
          </a:solidFill>
          <a:ln w="12700">
            <a:solidFill>
              <a:srgbClr val="20A46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318574" y="4902984"/>
            <a:ext cx="5731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5B6B7F"/>
                </a:solidFill>
              </a:rPr>
              <a:t>Формат</a:t>
            </a:r>
            <a:endParaRPr lang="en-US" sz="820" dirty="0"/>
          </a:p>
        </p:txBody>
      </p:sp>
      <p:sp>
        <p:nvSpPr>
          <p:cNvPr id="106" name="Text 104"/>
          <p:cNvSpPr/>
          <p:nvPr/>
        </p:nvSpPr>
        <p:spPr>
          <a:xfrm>
            <a:off x="6427044" y="4334868"/>
            <a:ext cx="331379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5B6B7F"/>
                </a:solidFill>
              </a:rPr>
              <a:t>6</a:t>
            </a:r>
            <a:endParaRPr lang="en-US" sz="820" dirty="0"/>
          </a:p>
        </p:txBody>
      </p:sp>
      <p:sp>
        <p:nvSpPr>
          <p:cNvPr id="107" name="Shape 105"/>
          <p:cNvSpPr/>
          <p:nvPr/>
        </p:nvSpPr>
        <p:spPr>
          <a:xfrm>
            <a:off x="6920820" y="4437604"/>
            <a:ext cx="294803" cy="432995"/>
          </a:xfrm>
          <a:prstGeom prst="roundRect">
            <a:avLst>
              <a:gd name="adj" fmla="val 12407"/>
            </a:avLst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812350" y="4902984"/>
            <a:ext cx="5707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5B6B7F"/>
                </a:solidFill>
              </a:rPr>
              <a:t>Аном.</a:t>
            </a:r>
            <a:endParaRPr lang="en-US" sz="820" dirty="0"/>
          </a:p>
        </p:txBody>
      </p:sp>
      <p:sp>
        <p:nvSpPr>
          <p:cNvPr id="109" name="Text 107"/>
          <p:cNvSpPr/>
          <p:nvPr/>
        </p:nvSpPr>
        <p:spPr>
          <a:xfrm>
            <a:off x="6902532" y="4273012"/>
            <a:ext cx="331379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5B6B7F"/>
                </a:solidFill>
              </a:rPr>
              <a:t>7</a:t>
            </a:r>
            <a:endParaRPr lang="en-US" sz="820" dirty="0"/>
          </a:p>
        </p:txBody>
      </p:sp>
      <p:sp>
        <p:nvSpPr>
          <p:cNvPr id="144" name="Shape 69">
            <a:extLst>
              <a:ext uri="{FF2B5EF4-FFF2-40B4-BE49-F238E27FC236}">
                <a16:creationId xmlns:a16="http://schemas.microsoft.com/office/drawing/2014/main" id="{D851EF72-4677-C1FB-B960-BA7C4D760795}"/>
              </a:ext>
            </a:extLst>
          </p:cNvPr>
          <p:cNvSpPr/>
          <p:nvPr/>
        </p:nvSpPr>
        <p:spPr>
          <a:xfrm>
            <a:off x="8031952" y="2536921"/>
            <a:ext cx="3435857" cy="3242719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145" name="Text 70">
            <a:extLst>
              <a:ext uri="{FF2B5EF4-FFF2-40B4-BE49-F238E27FC236}">
                <a16:creationId xmlns:a16="http://schemas.microsoft.com/office/drawing/2014/main" id="{DFA775DC-BC43-EA15-26D4-96B01B3157CF}"/>
              </a:ext>
            </a:extLst>
          </p:cNvPr>
          <p:cNvSpPr/>
          <p:nvPr/>
        </p:nvSpPr>
        <p:spPr>
          <a:xfrm>
            <a:off x="8178257" y="2637506"/>
            <a:ext cx="3107656" cy="223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Динамика проверок</a:t>
            </a:r>
            <a:endParaRPr lang="en-US" sz="1000" dirty="0"/>
          </a:p>
        </p:txBody>
      </p:sp>
      <p:graphicFrame>
        <p:nvGraphicFramePr>
          <p:cNvPr id="146" name="Chart 0">
            <a:extLst>
              <a:ext uri="{FF2B5EF4-FFF2-40B4-BE49-F238E27FC236}">
                <a16:creationId xmlns:a16="http://schemas.microsoft.com/office/drawing/2014/main" id="{97CF7618-4E45-6CB6-8189-8D6C26F3B1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6854952"/>
              </p:ext>
            </p:extLst>
          </p:nvPr>
        </p:nvGraphicFramePr>
        <p:xfrm>
          <a:off x="8169113" y="2966690"/>
          <a:ext cx="3116800" cy="2248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37"/>
                </a:solidFill>
              </a:rPr>
              <a:t>Система мониторинга данных в БД </a:t>
            </a:r>
            <a:r>
              <a:rPr lang="ru-RU" sz="2400" b="1" dirty="0">
                <a:solidFill>
                  <a:srgbClr val="1F2A37"/>
                </a:solidFill>
              </a:rPr>
              <a:t>(</a:t>
            </a:r>
            <a:r>
              <a:rPr lang="en-US" sz="2400" b="1" dirty="0">
                <a:solidFill>
                  <a:srgbClr val="1F2A37"/>
                </a:solidFill>
              </a:rPr>
              <a:t>MVP</a:t>
            </a:r>
            <a:r>
              <a:rPr lang="ru-RU" sz="2400" b="1" dirty="0">
                <a:solidFill>
                  <a:srgbClr val="1F2A37"/>
                </a:solidFill>
              </a:rPr>
              <a:t>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53600" y="256032"/>
            <a:ext cx="19964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702903" y="316611"/>
            <a:ext cx="2057400" cy="202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950" dirty="0">
                <a:solidFill>
                  <a:srgbClr val="5B6B7F"/>
                </a:solidFill>
              </a:rPr>
              <a:t>Страница 2 — Страница таблиц 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6675120" cy="50596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430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</a:rPr>
              <a:t>Страница таблиц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04876" y="1464564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950" dirty="0">
                <a:solidFill>
                  <a:srgbClr val="5B6B7F"/>
                </a:solidFill>
              </a:rPr>
              <a:t>Детализация по таблицам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9740" y="1834896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604" y="1903476"/>
            <a:ext cx="85039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FED"/>
                </a:solidFill>
              </a:rPr>
              <a:t>Все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02156" y="1834896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57020" y="1903476"/>
            <a:ext cx="85039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4545"/>
                </a:solidFill>
              </a:rPr>
              <a:t>Критично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44572" y="1834896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FFF6E1"/>
          </a:solidFill>
          <a:ln w="12700">
            <a:solidFill>
              <a:srgbClr val="FFF6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9436" y="1903476"/>
            <a:ext cx="85039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9800"/>
                </a:solidFill>
              </a:rPr>
              <a:t>Предупр.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86988" y="1834896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41852" y="1903476"/>
            <a:ext cx="85039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0A464"/>
                </a:solidFill>
              </a:rPr>
              <a:t>В норме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988" y="1789176"/>
            <a:ext cx="1965960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5436" y="1889760"/>
            <a:ext cx="1645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3A1B2"/>
                </a:solidFill>
              </a:rPr>
              <a:t>Поиск по названию таблицы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58368" y="2209800"/>
            <a:ext cx="1439823" cy="402336"/>
          </a:xfrm>
          <a:prstGeom prst="rect">
            <a:avLst/>
          </a:prstGeom>
          <a:solidFill>
            <a:srgbClr val="EEF3FB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2282952"/>
            <a:ext cx="136667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A37"/>
                </a:solidFill>
              </a:rPr>
              <a:t>Таблица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2098191" y="2209800"/>
            <a:ext cx="1042630" cy="402336"/>
          </a:xfrm>
          <a:prstGeom prst="rect">
            <a:avLst/>
          </a:prstGeom>
          <a:solidFill>
            <a:srgbClr val="EEF3FB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34767" y="2282952"/>
            <a:ext cx="96947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A37"/>
                </a:solidFill>
              </a:rPr>
              <a:t>Статус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3140821" y="2209800"/>
            <a:ext cx="1141928" cy="402336"/>
          </a:xfrm>
          <a:prstGeom prst="rect">
            <a:avLst/>
          </a:prstGeom>
          <a:solidFill>
            <a:srgbClr val="EEF3FB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7397" y="2282952"/>
            <a:ext cx="106877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A37"/>
                </a:solidFill>
              </a:rPr>
              <a:t>Строк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282750" y="2209800"/>
            <a:ext cx="1042630" cy="402336"/>
          </a:xfrm>
          <a:prstGeom prst="rect">
            <a:avLst/>
          </a:prstGeom>
          <a:solidFill>
            <a:srgbClr val="EEF3FB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9326" y="2282952"/>
            <a:ext cx="96947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A37"/>
                </a:solidFill>
              </a:rPr>
              <a:t>Пропуски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5325380" y="2209800"/>
            <a:ext cx="893683" cy="402336"/>
          </a:xfrm>
          <a:prstGeom prst="rect">
            <a:avLst/>
          </a:prstGeom>
          <a:solidFill>
            <a:srgbClr val="EEF3FB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61956" y="2282952"/>
            <a:ext cx="82053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A37"/>
                </a:solidFill>
              </a:rPr>
              <a:t>Дубли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219063" y="2209800"/>
            <a:ext cx="794385" cy="402336"/>
          </a:xfrm>
          <a:prstGeom prst="rect">
            <a:avLst/>
          </a:prstGeom>
          <a:solidFill>
            <a:srgbClr val="EEF3FB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5639" y="2282952"/>
            <a:ext cx="72123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A37"/>
                </a:solidFill>
              </a:rPr>
              <a:t>Проблем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58368" y="2612136"/>
            <a:ext cx="1439823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2685288"/>
            <a:ext cx="136667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orders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2098191" y="2612136"/>
            <a:ext cx="104263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62306" y="2639568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17170" y="2708148"/>
            <a:ext cx="85039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4545"/>
                </a:solidFill>
              </a:rPr>
              <a:t>Критично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40821" y="2612136"/>
            <a:ext cx="11419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77397" y="2685288"/>
            <a:ext cx="106877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1 542 300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282750" y="2612136"/>
            <a:ext cx="104263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19326" y="2685288"/>
            <a:ext cx="96947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18.2%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5325380" y="2612136"/>
            <a:ext cx="893683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61956" y="2685288"/>
            <a:ext cx="82053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1 204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6219063" y="2612136"/>
            <a:ext cx="794385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5639" y="2685288"/>
            <a:ext cx="72123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12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58368" y="3014472"/>
            <a:ext cx="1439823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" y="3087624"/>
            <a:ext cx="136667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support_tickets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2098191" y="3014472"/>
            <a:ext cx="104263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62306" y="3041904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17170" y="3110484"/>
            <a:ext cx="85039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4545"/>
                </a:solidFill>
              </a:rPr>
              <a:t>Критично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40821" y="3014472"/>
            <a:ext cx="11419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77397" y="3087624"/>
            <a:ext cx="106877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90 220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4282750" y="3014472"/>
            <a:ext cx="104263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19326" y="3087624"/>
            <a:ext cx="96947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9.7%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5325380" y="3014472"/>
            <a:ext cx="893683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61956" y="3087624"/>
            <a:ext cx="82053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61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6219063" y="3014472"/>
            <a:ext cx="794385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55639" y="3087624"/>
            <a:ext cx="72123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10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658368" y="3416808"/>
            <a:ext cx="1439823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4944" y="3489960"/>
            <a:ext cx="136667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deliveries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2098191" y="3416808"/>
            <a:ext cx="104263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62306" y="3444240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17170" y="3512820"/>
            <a:ext cx="85039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4545"/>
                </a:solidFill>
              </a:rPr>
              <a:t>Критично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140821" y="3416808"/>
            <a:ext cx="11419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77397" y="3489960"/>
            <a:ext cx="106877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310 550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4282750" y="3416808"/>
            <a:ext cx="104263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19326" y="3489960"/>
            <a:ext cx="96947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11.6%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5325380" y="3416808"/>
            <a:ext cx="893683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61956" y="3489960"/>
            <a:ext cx="82053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88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6219063" y="3416808"/>
            <a:ext cx="794385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55639" y="3489960"/>
            <a:ext cx="72123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9</a:t>
            </a:r>
            <a:endParaRPr lang="en-US" sz="880" dirty="0"/>
          </a:p>
        </p:txBody>
      </p:sp>
      <p:sp>
        <p:nvSpPr>
          <p:cNvPr id="70" name="Shape 68"/>
          <p:cNvSpPr/>
          <p:nvPr/>
        </p:nvSpPr>
        <p:spPr>
          <a:xfrm>
            <a:off x="658368" y="3819144"/>
            <a:ext cx="1439823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4944" y="3892296"/>
            <a:ext cx="136667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payments</a:t>
            </a: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2098191" y="3819144"/>
            <a:ext cx="104263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62306" y="3846576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FFF6E1"/>
          </a:solidFill>
          <a:ln w="12700">
            <a:solidFill>
              <a:srgbClr val="FFF6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217170" y="3915156"/>
            <a:ext cx="85039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9800"/>
                </a:solidFill>
              </a:rPr>
              <a:t>Предупр.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140821" y="3819144"/>
            <a:ext cx="11419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77397" y="3892296"/>
            <a:ext cx="106877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823 400</a:t>
            </a:r>
            <a:endParaRPr lang="en-US" sz="880" dirty="0"/>
          </a:p>
        </p:txBody>
      </p:sp>
      <p:sp>
        <p:nvSpPr>
          <p:cNvPr id="77" name="Shape 75"/>
          <p:cNvSpPr/>
          <p:nvPr/>
        </p:nvSpPr>
        <p:spPr>
          <a:xfrm>
            <a:off x="4282750" y="3819144"/>
            <a:ext cx="104263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19326" y="3892296"/>
            <a:ext cx="96947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4.1%</a:t>
            </a:r>
            <a:endParaRPr lang="en-US" sz="880" dirty="0"/>
          </a:p>
        </p:txBody>
      </p:sp>
      <p:sp>
        <p:nvSpPr>
          <p:cNvPr id="79" name="Shape 77"/>
          <p:cNvSpPr/>
          <p:nvPr/>
        </p:nvSpPr>
        <p:spPr>
          <a:xfrm>
            <a:off x="5325380" y="3819144"/>
            <a:ext cx="893683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361956" y="3892296"/>
            <a:ext cx="82053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17</a:t>
            </a:r>
            <a:endParaRPr lang="en-US" sz="880" dirty="0"/>
          </a:p>
        </p:txBody>
      </p:sp>
      <p:sp>
        <p:nvSpPr>
          <p:cNvPr id="81" name="Shape 79"/>
          <p:cNvSpPr/>
          <p:nvPr/>
        </p:nvSpPr>
        <p:spPr>
          <a:xfrm>
            <a:off x="6219063" y="3819144"/>
            <a:ext cx="794385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55639" y="3892296"/>
            <a:ext cx="72123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6</a:t>
            </a:r>
            <a:endParaRPr lang="en-US" sz="880" dirty="0"/>
          </a:p>
        </p:txBody>
      </p:sp>
      <p:sp>
        <p:nvSpPr>
          <p:cNvPr id="83" name="Shape 81"/>
          <p:cNvSpPr/>
          <p:nvPr/>
        </p:nvSpPr>
        <p:spPr>
          <a:xfrm>
            <a:off x="658368" y="4221480"/>
            <a:ext cx="1439823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94944" y="4294632"/>
            <a:ext cx="136667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crm_leads</a:t>
            </a:r>
            <a:endParaRPr lang="en-US" sz="880" dirty="0"/>
          </a:p>
        </p:txBody>
      </p:sp>
      <p:sp>
        <p:nvSpPr>
          <p:cNvPr id="85" name="Shape 83"/>
          <p:cNvSpPr/>
          <p:nvPr/>
        </p:nvSpPr>
        <p:spPr>
          <a:xfrm>
            <a:off x="2098191" y="4221480"/>
            <a:ext cx="104263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162306" y="4248912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FFF6E1"/>
          </a:solidFill>
          <a:ln w="12700">
            <a:solidFill>
              <a:srgbClr val="FFF6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217170" y="4317492"/>
            <a:ext cx="85039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9800"/>
                </a:solidFill>
              </a:rPr>
              <a:t>Предупр.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140821" y="4221480"/>
            <a:ext cx="11419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77397" y="4294632"/>
            <a:ext cx="106877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54 090</a:t>
            </a:r>
            <a:endParaRPr lang="en-US" sz="880" dirty="0"/>
          </a:p>
        </p:txBody>
      </p:sp>
      <p:sp>
        <p:nvSpPr>
          <p:cNvPr id="90" name="Shape 88"/>
          <p:cNvSpPr/>
          <p:nvPr/>
        </p:nvSpPr>
        <p:spPr>
          <a:xfrm>
            <a:off x="4282750" y="4221480"/>
            <a:ext cx="104263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19326" y="4294632"/>
            <a:ext cx="96947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7.8%</a:t>
            </a:r>
            <a:endParaRPr lang="en-US" sz="880" dirty="0"/>
          </a:p>
        </p:txBody>
      </p:sp>
      <p:sp>
        <p:nvSpPr>
          <p:cNvPr id="92" name="Shape 90"/>
          <p:cNvSpPr/>
          <p:nvPr/>
        </p:nvSpPr>
        <p:spPr>
          <a:xfrm>
            <a:off x="5325380" y="4221480"/>
            <a:ext cx="893683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361956" y="4294632"/>
            <a:ext cx="82053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32</a:t>
            </a:r>
            <a:endParaRPr lang="en-US" sz="880" dirty="0"/>
          </a:p>
        </p:txBody>
      </p:sp>
      <p:sp>
        <p:nvSpPr>
          <p:cNvPr id="94" name="Shape 92"/>
          <p:cNvSpPr/>
          <p:nvPr/>
        </p:nvSpPr>
        <p:spPr>
          <a:xfrm>
            <a:off x="6219063" y="4221480"/>
            <a:ext cx="794385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55639" y="4294632"/>
            <a:ext cx="72123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5</a:t>
            </a:r>
            <a:endParaRPr lang="en-US" sz="880" dirty="0"/>
          </a:p>
        </p:txBody>
      </p:sp>
      <p:sp>
        <p:nvSpPr>
          <p:cNvPr id="96" name="Shape 94"/>
          <p:cNvSpPr/>
          <p:nvPr/>
        </p:nvSpPr>
        <p:spPr>
          <a:xfrm>
            <a:off x="658368" y="4623816"/>
            <a:ext cx="1439823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94944" y="4696968"/>
            <a:ext cx="136667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users</a:t>
            </a:r>
            <a:endParaRPr lang="en-US" sz="880" dirty="0"/>
          </a:p>
        </p:txBody>
      </p:sp>
      <p:sp>
        <p:nvSpPr>
          <p:cNvPr id="98" name="Shape 96"/>
          <p:cNvSpPr/>
          <p:nvPr/>
        </p:nvSpPr>
        <p:spPr>
          <a:xfrm>
            <a:off x="2098191" y="4623816"/>
            <a:ext cx="104263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162306" y="4651248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217170" y="4719828"/>
            <a:ext cx="85039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0A464"/>
                </a:solidFill>
              </a:rPr>
              <a:t>В норме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140821" y="4623816"/>
            <a:ext cx="11419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177397" y="4696968"/>
            <a:ext cx="106877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245 600</a:t>
            </a:r>
            <a:endParaRPr lang="en-US" sz="880" dirty="0"/>
          </a:p>
        </p:txBody>
      </p:sp>
      <p:sp>
        <p:nvSpPr>
          <p:cNvPr id="103" name="Shape 101"/>
          <p:cNvSpPr/>
          <p:nvPr/>
        </p:nvSpPr>
        <p:spPr>
          <a:xfrm>
            <a:off x="4282750" y="4623816"/>
            <a:ext cx="104263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319326" y="4696968"/>
            <a:ext cx="96947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0.3%</a:t>
            </a:r>
            <a:endParaRPr lang="en-US" sz="880" dirty="0"/>
          </a:p>
        </p:txBody>
      </p:sp>
      <p:sp>
        <p:nvSpPr>
          <p:cNvPr id="105" name="Shape 103"/>
          <p:cNvSpPr/>
          <p:nvPr/>
        </p:nvSpPr>
        <p:spPr>
          <a:xfrm>
            <a:off x="5325380" y="4623816"/>
            <a:ext cx="893683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361956" y="4696968"/>
            <a:ext cx="82053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0</a:t>
            </a:r>
            <a:endParaRPr lang="en-US" sz="880" dirty="0"/>
          </a:p>
        </p:txBody>
      </p:sp>
      <p:sp>
        <p:nvSpPr>
          <p:cNvPr id="107" name="Shape 105"/>
          <p:cNvSpPr/>
          <p:nvPr/>
        </p:nvSpPr>
        <p:spPr>
          <a:xfrm>
            <a:off x="6219063" y="4623816"/>
            <a:ext cx="794385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255639" y="4696968"/>
            <a:ext cx="72123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1</a:t>
            </a:r>
            <a:endParaRPr lang="en-US" sz="880" dirty="0"/>
          </a:p>
        </p:txBody>
      </p:sp>
      <p:sp>
        <p:nvSpPr>
          <p:cNvPr id="109" name="Shape 107"/>
          <p:cNvSpPr/>
          <p:nvPr/>
        </p:nvSpPr>
        <p:spPr>
          <a:xfrm>
            <a:off x="7242048" y="960120"/>
            <a:ext cx="4507992" cy="505968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0" name="Text 108"/>
          <p:cNvSpPr/>
          <p:nvPr/>
        </p:nvSpPr>
        <p:spPr>
          <a:xfrm>
            <a:off x="7353300" y="108051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</a:rPr>
              <a:t>Карточка выбранной таблицы: orders</a:t>
            </a:r>
            <a:endParaRPr lang="en-US" sz="1350" dirty="0"/>
          </a:p>
        </p:txBody>
      </p:sp>
      <p:sp>
        <p:nvSpPr>
          <p:cNvPr id="111" name="Text 109"/>
          <p:cNvSpPr/>
          <p:nvPr/>
        </p:nvSpPr>
        <p:spPr>
          <a:xfrm>
            <a:off x="7360920" y="1299972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950" dirty="0">
                <a:solidFill>
                  <a:srgbClr val="5B6B7F"/>
                </a:solidFill>
              </a:rPr>
              <a:t>Детальная информация по выбранной таблице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10675620" y="1056132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785348" y="1118616"/>
            <a:ext cx="85039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4545"/>
                </a:solidFill>
              </a:rPr>
              <a:t>Критично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7414260" y="1645920"/>
            <a:ext cx="17830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7558304" y="174955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F"/>
                </a:solidFill>
              </a:rPr>
              <a:t>Строк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7561304" y="1914906"/>
            <a:ext cx="181510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</a:rPr>
              <a:t>1 542 300</a:t>
            </a:r>
            <a:endParaRPr lang="en-US" sz="2200" dirty="0"/>
          </a:p>
        </p:txBody>
      </p:sp>
      <p:sp>
        <p:nvSpPr>
          <p:cNvPr id="118" name="Shape 116"/>
          <p:cNvSpPr/>
          <p:nvPr/>
        </p:nvSpPr>
        <p:spPr>
          <a:xfrm>
            <a:off x="9288780" y="1645920"/>
            <a:ext cx="17830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9387840" y="174955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F"/>
                </a:solidFill>
              </a:rPr>
              <a:t>Пропуски</a:t>
            </a:r>
            <a:endParaRPr lang="en-US" sz="1050" dirty="0"/>
          </a:p>
        </p:txBody>
      </p:sp>
      <p:sp>
        <p:nvSpPr>
          <p:cNvPr id="120" name="Text 118"/>
          <p:cNvSpPr/>
          <p:nvPr/>
        </p:nvSpPr>
        <p:spPr>
          <a:xfrm>
            <a:off x="9387840" y="196291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</a:rPr>
              <a:t>18.2%</a:t>
            </a:r>
            <a:endParaRPr lang="en-US" sz="2200" dirty="0"/>
          </a:p>
        </p:txBody>
      </p:sp>
      <p:sp>
        <p:nvSpPr>
          <p:cNvPr id="121" name="Text 119"/>
          <p:cNvSpPr/>
          <p:nvPr/>
        </p:nvSpPr>
        <p:spPr>
          <a:xfrm>
            <a:off x="9405723" y="2279142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B6B7F"/>
                </a:solidFill>
              </a:rPr>
              <a:t>доля NULL</a:t>
            </a:r>
            <a:endParaRPr lang="en-US" sz="930" dirty="0"/>
          </a:p>
        </p:txBody>
      </p:sp>
      <p:sp>
        <p:nvSpPr>
          <p:cNvPr id="122" name="Shape 120"/>
          <p:cNvSpPr/>
          <p:nvPr/>
        </p:nvSpPr>
        <p:spPr>
          <a:xfrm>
            <a:off x="7414260" y="2624328"/>
            <a:ext cx="17830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3" name="Text 121"/>
          <p:cNvSpPr/>
          <p:nvPr/>
        </p:nvSpPr>
        <p:spPr>
          <a:xfrm>
            <a:off x="7547610" y="267843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F"/>
                </a:solidFill>
              </a:rPr>
              <a:t>Дубли</a:t>
            </a:r>
            <a:endParaRPr lang="en-US" sz="1050" dirty="0"/>
          </a:p>
        </p:txBody>
      </p:sp>
      <p:sp>
        <p:nvSpPr>
          <p:cNvPr id="124" name="Text 122"/>
          <p:cNvSpPr/>
          <p:nvPr/>
        </p:nvSpPr>
        <p:spPr>
          <a:xfrm>
            <a:off x="7541323" y="28575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</a:rPr>
              <a:t>1 204</a:t>
            </a:r>
            <a:endParaRPr lang="en-US" sz="2200" dirty="0"/>
          </a:p>
        </p:txBody>
      </p:sp>
      <p:sp>
        <p:nvSpPr>
          <p:cNvPr id="125" name="Text 123"/>
          <p:cNvSpPr/>
          <p:nvPr/>
        </p:nvSpPr>
        <p:spPr>
          <a:xfrm>
            <a:off x="7562409" y="3201924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B6B7F"/>
                </a:solidFill>
              </a:rPr>
              <a:t>найдено строк</a:t>
            </a:r>
            <a:endParaRPr lang="en-US" sz="930" dirty="0"/>
          </a:p>
        </p:txBody>
      </p:sp>
      <p:sp>
        <p:nvSpPr>
          <p:cNvPr id="126" name="Shape 124"/>
          <p:cNvSpPr/>
          <p:nvPr/>
        </p:nvSpPr>
        <p:spPr>
          <a:xfrm>
            <a:off x="9288780" y="2624328"/>
            <a:ext cx="17830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7" name="Text 125"/>
          <p:cNvSpPr/>
          <p:nvPr/>
        </p:nvSpPr>
        <p:spPr>
          <a:xfrm>
            <a:off x="9366754" y="270586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F"/>
                </a:solidFill>
              </a:rPr>
              <a:t>Аномалии</a:t>
            </a:r>
            <a:endParaRPr lang="en-US" sz="1050" dirty="0"/>
          </a:p>
        </p:txBody>
      </p:sp>
      <p:sp>
        <p:nvSpPr>
          <p:cNvPr id="128" name="Text 126"/>
          <p:cNvSpPr/>
          <p:nvPr/>
        </p:nvSpPr>
        <p:spPr>
          <a:xfrm>
            <a:off x="9387840" y="28727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</a:rPr>
              <a:t>3</a:t>
            </a:r>
            <a:endParaRPr lang="en-US" sz="2200" dirty="0"/>
          </a:p>
        </p:txBody>
      </p:sp>
      <p:sp>
        <p:nvSpPr>
          <p:cNvPr id="129" name="Text 127"/>
          <p:cNvSpPr/>
          <p:nvPr/>
        </p:nvSpPr>
        <p:spPr>
          <a:xfrm>
            <a:off x="9366754" y="3224022"/>
            <a:ext cx="150230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B6B7F"/>
                </a:solidFill>
              </a:rPr>
              <a:t>по последней проверке</a:t>
            </a:r>
            <a:endParaRPr lang="en-US" sz="930" dirty="0"/>
          </a:p>
        </p:txBody>
      </p:sp>
      <p:sp>
        <p:nvSpPr>
          <p:cNvPr id="130" name="Text 128"/>
          <p:cNvSpPr/>
          <p:nvPr/>
        </p:nvSpPr>
        <p:spPr>
          <a:xfrm>
            <a:off x="7456932" y="3787140"/>
            <a:ext cx="29215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7"/>
                </a:solidFill>
              </a:rPr>
              <a:t>Ключевые выявленные проблемы</a:t>
            </a:r>
            <a:endParaRPr lang="en-US" sz="1150" dirty="0"/>
          </a:p>
        </p:txBody>
      </p:sp>
      <p:sp>
        <p:nvSpPr>
          <p:cNvPr id="131" name="Shape 129"/>
          <p:cNvSpPr/>
          <p:nvPr/>
        </p:nvSpPr>
        <p:spPr>
          <a:xfrm>
            <a:off x="7429500" y="4061460"/>
            <a:ext cx="914400" cy="347472"/>
          </a:xfrm>
          <a:prstGeom prst="rect">
            <a:avLst/>
          </a:prstGeom>
          <a:solidFill>
            <a:srgbClr val="EEF3FB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466076" y="4134612"/>
            <a:ext cx="8412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A37"/>
                </a:solidFill>
              </a:rPr>
              <a:t>Столбец</a:t>
            </a:r>
            <a:endParaRPr lang="en-US" sz="920" dirty="0"/>
          </a:p>
        </p:txBody>
      </p:sp>
      <p:sp>
        <p:nvSpPr>
          <p:cNvPr id="133" name="Shape 131"/>
          <p:cNvSpPr/>
          <p:nvPr/>
        </p:nvSpPr>
        <p:spPr>
          <a:xfrm>
            <a:off x="8343900" y="4061460"/>
            <a:ext cx="1828800" cy="347472"/>
          </a:xfrm>
          <a:prstGeom prst="rect">
            <a:avLst/>
          </a:prstGeom>
          <a:solidFill>
            <a:srgbClr val="EEF3FB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380476" y="4134612"/>
            <a:ext cx="17556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A37"/>
                </a:solidFill>
              </a:rPr>
              <a:t>Проблема</a:t>
            </a:r>
            <a:endParaRPr lang="en-US" sz="920" dirty="0"/>
          </a:p>
        </p:txBody>
      </p:sp>
      <p:sp>
        <p:nvSpPr>
          <p:cNvPr id="135" name="Shape 133"/>
          <p:cNvSpPr/>
          <p:nvPr/>
        </p:nvSpPr>
        <p:spPr>
          <a:xfrm>
            <a:off x="10172700" y="4061460"/>
            <a:ext cx="1005840" cy="347472"/>
          </a:xfrm>
          <a:prstGeom prst="rect">
            <a:avLst/>
          </a:prstGeom>
          <a:solidFill>
            <a:srgbClr val="EEF3FB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0209276" y="4134612"/>
            <a:ext cx="9326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A37"/>
                </a:solidFill>
              </a:rPr>
              <a:t>Уровень</a:t>
            </a:r>
            <a:endParaRPr lang="en-US" sz="920" dirty="0"/>
          </a:p>
        </p:txBody>
      </p:sp>
      <p:sp>
        <p:nvSpPr>
          <p:cNvPr id="137" name="Shape 135"/>
          <p:cNvSpPr/>
          <p:nvPr/>
        </p:nvSpPr>
        <p:spPr>
          <a:xfrm>
            <a:off x="7429500" y="4408932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466076" y="4482084"/>
            <a:ext cx="8412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user_id</a:t>
            </a:r>
            <a:endParaRPr lang="en-US" sz="880" dirty="0"/>
          </a:p>
        </p:txBody>
      </p:sp>
      <p:sp>
        <p:nvSpPr>
          <p:cNvPr id="139" name="Shape 137"/>
          <p:cNvSpPr/>
          <p:nvPr/>
        </p:nvSpPr>
        <p:spPr>
          <a:xfrm>
            <a:off x="8343900" y="4408932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380476" y="4482084"/>
            <a:ext cx="17556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Резкий рост NULL</a:t>
            </a:r>
            <a:endParaRPr lang="en-US" sz="880" dirty="0"/>
          </a:p>
        </p:txBody>
      </p:sp>
      <p:sp>
        <p:nvSpPr>
          <p:cNvPr id="141" name="Shape 139"/>
          <p:cNvSpPr/>
          <p:nvPr/>
        </p:nvSpPr>
        <p:spPr>
          <a:xfrm>
            <a:off x="10172700" y="4408932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209276" y="4482084"/>
            <a:ext cx="9326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Критично</a:t>
            </a:r>
            <a:endParaRPr lang="en-US" sz="880" dirty="0"/>
          </a:p>
        </p:txBody>
      </p:sp>
      <p:sp>
        <p:nvSpPr>
          <p:cNvPr id="143" name="Shape 141"/>
          <p:cNvSpPr/>
          <p:nvPr/>
        </p:nvSpPr>
        <p:spPr>
          <a:xfrm>
            <a:off x="7429500" y="4756404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466076" y="4829556"/>
            <a:ext cx="8412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order_sum</a:t>
            </a:r>
            <a:endParaRPr lang="en-US" sz="880" dirty="0"/>
          </a:p>
        </p:txBody>
      </p:sp>
      <p:sp>
        <p:nvSpPr>
          <p:cNvPr id="145" name="Shape 143"/>
          <p:cNvSpPr/>
          <p:nvPr/>
        </p:nvSpPr>
        <p:spPr>
          <a:xfrm>
            <a:off x="8343900" y="4756404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380476" y="4829556"/>
            <a:ext cx="17556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Выбросы значений</a:t>
            </a:r>
            <a:endParaRPr lang="en-US" sz="880" dirty="0"/>
          </a:p>
        </p:txBody>
      </p:sp>
      <p:sp>
        <p:nvSpPr>
          <p:cNvPr id="147" name="Shape 145"/>
          <p:cNvSpPr/>
          <p:nvPr/>
        </p:nvSpPr>
        <p:spPr>
          <a:xfrm>
            <a:off x="10172700" y="4756404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0209276" y="4829556"/>
            <a:ext cx="9326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Предупреждение</a:t>
            </a:r>
            <a:endParaRPr lang="en-US" sz="880" dirty="0"/>
          </a:p>
        </p:txBody>
      </p:sp>
      <p:sp>
        <p:nvSpPr>
          <p:cNvPr id="149" name="Shape 147"/>
          <p:cNvSpPr/>
          <p:nvPr/>
        </p:nvSpPr>
        <p:spPr>
          <a:xfrm>
            <a:off x="7429500" y="5103876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466076" y="5177028"/>
            <a:ext cx="8412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created_at</a:t>
            </a:r>
            <a:endParaRPr lang="en-US" sz="880" dirty="0"/>
          </a:p>
        </p:txBody>
      </p:sp>
      <p:sp>
        <p:nvSpPr>
          <p:cNvPr id="151" name="Shape 149"/>
          <p:cNvSpPr/>
          <p:nvPr/>
        </p:nvSpPr>
        <p:spPr>
          <a:xfrm>
            <a:off x="8343900" y="5103876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8380476" y="5177028"/>
            <a:ext cx="17556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Нарушение формата</a:t>
            </a:r>
            <a:endParaRPr lang="en-US" sz="880" dirty="0"/>
          </a:p>
        </p:txBody>
      </p:sp>
      <p:sp>
        <p:nvSpPr>
          <p:cNvPr id="153" name="Shape 151"/>
          <p:cNvSpPr/>
          <p:nvPr/>
        </p:nvSpPr>
        <p:spPr>
          <a:xfrm>
            <a:off x="10172700" y="5103876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0209276" y="5177028"/>
            <a:ext cx="9326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Предупреждение</a:t>
            </a:r>
            <a:endParaRPr lang="en-US" sz="880" dirty="0"/>
          </a:p>
        </p:txBody>
      </p:sp>
      <p:sp>
        <p:nvSpPr>
          <p:cNvPr id="155" name="Shape 153"/>
          <p:cNvSpPr/>
          <p:nvPr/>
        </p:nvSpPr>
        <p:spPr>
          <a:xfrm>
            <a:off x="7429500" y="5451348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7466076" y="5524500"/>
            <a:ext cx="8412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order_id</a:t>
            </a:r>
            <a:endParaRPr lang="en-US" sz="880" dirty="0"/>
          </a:p>
        </p:txBody>
      </p:sp>
      <p:sp>
        <p:nvSpPr>
          <p:cNvPr id="157" name="Shape 155"/>
          <p:cNvSpPr/>
          <p:nvPr/>
        </p:nvSpPr>
        <p:spPr>
          <a:xfrm>
            <a:off x="8354568" y="5452872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391144" y="5526024"/>
            <a:ext cx="17556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Рост дублей</a:t>
            </a:r>
            <a:endParaRPr lang="en-US" sz="880" dirty="0"/>
          </a:p>
        </p:txBody>
      </p:sp>
      <p:sp>
        <p:nvSpPr>
          <p:cNvPr id="159" name="Shape 157"/>
          <p:cNvSpPr/>
          <p:nvPr/>
        </p:nvSpPr>
        <p:spPr>
          <a:xfrm>
            <a:off x="10183368" y="5452872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0219944" y="5526024"/>
            <a:ext cx="9326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Критично</a:t>
            </a:r>
            <a:endParaRPr lang="en-US" sz="880" dirty="0"/>
          </a:p>
        </p:txBody>
      </p:sp>
      <p:sp>
        <p:nvSpPr>
          <p:cNvPr id="163" name="Text 127">
            <a:extLst>
              <a:ext uri="{FF2B5EF4-FFF2-40B4-BE49-F238E27FC236}">
                <a16:creationId xmlns:a16="http://schemas.microsoft.com/office/drawing/2014/main" id="{ACE11E35-C07B-C3C6-EA8C-1B311B90F606}"/>
              </a:ext>
            </a:extLst>
          </p:cNvPr>
          <p:cNvSpPr/>
          <p:nvPr/>
        </p:nvSpPr>
        <p:spPr>
          <a:xfrm>
            <a:off x="7592746" y="2240280"/>
            <a:ext cx="150230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B6B7F"/>
                </a:solidFill>
              </a:rPr>
              <a:t>по последней проверке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37"/>
                </a:solidFill>
              </a:rPr>
              <a:t>Система мониторинга данных в БД </a:t>
            </a:r>
            <a:r>
              <a:rPr lang="ru-RU" sz="2400" b="1" dirty="0">
                <a:solidFill>
                  <a:srgbClr val="1F2A37"/>
                </a:solidFill>
              </a:rPr>
              <a:t>(</a:t>
            </a:r>
            <a:r>
              <a:rPr lang="en-US" sz="2400" b="1" dirty="0">
                <a:solidFill>
                  <a:srgbClr val="1F2A37"/>
                </a:solidFill>
              </a:rPr>
              <a:t>MVP</a:t>
            </a:r>
            <a:r>
              <a:rPr lang="ru-RU" sz="2400" b="1" dirty="0">
                <a:solidFill>
                  <a:srgbClr val="1F2A37"/>
                </a:solidFill>
              </a:rPr>
              <a:t>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251960" cy="430530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4300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</a:rPr>
              <a:t>История проверок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</a:rPr>
              <a:t>Как менялись результаты и когда качество данных ухудшилось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725168"/>
            <a:ext cx="1463040" cy="420624"/>
          </a:xfrm>
          <a:prstGeom prst="rect">
            <a:avLst/>
          </a:prstGeom>
          <a:solidFill>
            <a:srgbClr val="EEF3FB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798320"/>
            <a:ext cx="1389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A37"/>
                </a:solidFill>
              </a:rPr>
              <a:t>Запуск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121408" y="1725168"/>
            <a:ext cx="777240" cy="420624"/>
          </a:xfrm>
          <a:prstGeom prst="rect">
            <a:avLst/>
          </a:prstGeom>
          <a:solidFill>
            <a:srgbClr val="EEF3FB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1798320"/>
            <a:ext cx="7040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A37"/>
                </a:solidFill>
              </a:rPr>
              <a:t>Таблиц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898648" y="1725168"/>
            <a:ext cx="822960" cy="420624"/>
          </a:xfrm>
          <a:prstGeom prst="rect">
            <a:avLst/>
          </a:prstGeom>
          <a:solidFill>
            <a:srgbClr val="EEF3FB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35224" y="1798320"/>
            <a:ext cx="7498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A37"/>
                </a:solidFill>
              </a:rPr>
              <a:t>Проблем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721608" y="1725168"/>
            <a:ext cx="777240" cy="420624"/>
          </a:xfrm>
          <a:prstGeom prst="rect">
            <a:avLst/>
          </a:prstGeom>
          <a:solidFill>
            <a:srgbClr val="EEF3FB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58184" y="1798320"/>
            <a:ext cx="7498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A37"/>
                </a:solidFill>
              </a:rPr>
              <a:t>Аномалий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58368" y="2145792"/>
            <a:ext cx="1463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2218944"/>
            <a:ext cx="1389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18.04 14:35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121408" y="2145792"/>
            <a:ext cx="777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57984" y="2218944"/>
            <a:ext cx="7040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24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898648" y="2145792"/>
            <a:ext cx="822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35224" y="2218944"/>
            <a:ext cx="7498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47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721608" y="2145792"/>
            <a:ext cx="777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2218944"/>
            <a:ext cx="7040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8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58368" y="2566416"/>
            <a:ext cx="1463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2639568"/>
            <a:ext cx="1389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18.04 10:00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121408" y="2566416"/>
            <a:ext cx="777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57984" y="2639568"/>
            <a:ext cx="7040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24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898648" y="2566416"/>
            <a:ext cx="822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35224" y="2639568"/>
            <a:ext cx="7498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39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721608" y="2566416"/>
            <a:ext cx="777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58184" y="2639568"/>
            <a:ext cx="7040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6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58368" y="2987040"/>
            <a:ext cx="1463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" y="3060192"/>
            <a:ext cx="1389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17.04 18:00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121408" y="2987040"/>
            <a:ext cx="777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57984" y="3060192"/>
            <a:ext cx="7040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24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2898648" y="2987040"/>
            <a:ext cx="822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35224" y="3060192"/>
            <a:ext cx="7498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44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3721608" y="2987040"/>
            <a:ext cx="777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58184" y="3060192"/>
            <a:ext cx="7040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7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58368" y="3407664"/>
            <a:ext cx="1463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" y="3480816"/>
            <a:ext cx="1389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17.04 09:00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2121408" y="3407664"/>
            <a:ext cx="777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57984" y="3480816"/>
            <a:ext cx="7040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24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2898648" y="3407664"/>
            <a:ext cx="822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35224" y="3480816"/>
            <a:ext cx="7498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36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3721608" y="3407664"/>
            <a:ext cx="777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58184" y="3480816"/>
            <a:ext cx="7040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5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658368" y="3828288"/>
            <a:ext cx="1463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" y="3901440"/>
            <a:ext cx="1389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F2A37"/>
                </a:solidFill>
              </a:rPr>
              <a:t>16.04 18:00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2121408" y="3828288"/>
            <a:ext cx="777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57984" y="3901440"/>
            <a:ext cx="7040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24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2898648" y="3828288"/>
            <a:ext cx="822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35224" y="3901440"/>
            <a:ext cx="7498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38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3721608" y="3828288"/>
            <a:ext cx="777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58184" y="3901440"/>
            <a:ext cx="7040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F2A37"/>
                </a:solidFill>
              </a:rPr>
              <a:t>5</a:t>
            </a:r>
            <a:endParaRPr lang="en-US" sz="880" dirty="0"/>
          </a:p>
        </p:txBody>
      </p:sp>
      <p:sp>
        <p:nvSpPr>
          <p:cNvPr id="102" name="Shape 2">
            <a:extLst>
              <a:ext uri="{FF2B5EF4-FFF2-40B4-BE49-F238E27FC236}">
                <a16:creationId xmlns:a16="http://schemas.microsoft.com/office/drawing/2014/main" id="{87CE05A9-6788-CF80-98E3-4881785B9A6C}"/>
              </a:ext>
            </a:extLst>
          </p:cNvPr>
          <p:cNvSpPr/>
          <p:nvPr/>
        </p:nvSpPr>
        <p:spPr>
          <a:xfrm>
            <a:off x="9753600" y="256032"/>
            <a:ext cx="19964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3" name="Text 3">
            <a:extLst>
              <a:ext uri="{FF2B5EF4-FFF2-40B4-BE49-F238E27FC236}">
                <a16:creationId xmlns:a16="http://schemas.microsoft.com/office/drawing/2014/main" id="{EDBA0EDA-0DD3-28E4-36C3-848594FEEADB}"/>
              </a:ext>
            </a:extLst>
          </p:cNvPr>
          <p:cNvSpPr/>
          <p:nvPr/>
        </p:nvSpPr>
        <p:spPr>
          <a:xfrm>
            <a:off x="9702903" y="316611"/>
            <a:ext cx="2057400" cy="202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950" dirty="0">
                <a:solidFill>
                  <a:srgbClr val="5B6B7F"/>
                </a:solidFill>
              </a:rPr>
              <a:t>Страница 3 — История проверок </a:t>
            </a:r>
            <a:endParaRPr lang="en-US" sz="950" dirty="0"/>
          </a:p>
        </p:txBody>
      </p:sp>
      <p:sp>
        <p:nvSpPr>
          <p:cNvPr id="104" name="Shape 35">
            <a:extLst>
              <a:ext uri="{FF2B5EF4-FFF2-40B4-BE49-F238E27FC236}">
                <a16:creationId xmlns:a16="http://schemas.microsoft.com/office/drawing/2014/main" id="{C6AC2909-2729-F241-7F21-805E0B7C8DE0}"/>
              </a:ext>
            </a:extLst>
          </p:cNvPr>
          <p:cNvSpPr/>
          <p:nvPr/>
        </p:nvSpPr>
        <p:spPr>
          <a:xfrm>
            <a:off x="4846320" y="954024"/>
            <a:ext cx="7132320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105" name="Text 36">
            <a:extLst>
              <a:ext uri="{FF2B5EF4-FFF2-40B4-BE49-F238E27FC236}">
                <a16:creationId xmlns:a16="http://schemas.microsoft.com/office/drawing/2014/main" id="{33C93089-AAD9-7CEE-C507-F24EA89B4F32}"/>
              </a:ext>
            </a:extLst>
          </p:cNvPr>
          <p:cNvSpPr/>
          <p:nvPr/>
        </p:nvSpPr>
        <p:spPr>
          <a:xfrm>
            <a:off x="4992624" y="1054608"/>
            <a:ext cx="6839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Динамика по выбранной таблице</a:t>
            </a:r>
            <a:endParaRPr lang="en-US" sz="1000" dirty="0"/>
          </a:p>
        </p:txBody>
      </p:sp>
      <p:graphicFrame>
        <p:nvGraphicFramePr>
          <p:cNvPr id="106" name="Chart 0">
            <a:extLst>
              <a:ext uri="{FF2B5EF4-FFF2-40B4-BE49-F238E27FC236}">
                <a16:creationId xmlns:a16="http://schemas.microsoft.com/office/drawing/2014/main" id="{A16EF7D1-6687-5FFD-107C-C8D26C77F5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6147214"/>
              </p:ext>
            </p:extLst>
          </p:nvPr>
        </p:nvGraphicFramePr>
        <p:xfrm>
          <a:off x="5029200" y="1310640"/>
          <a:ext cx="6720840" cy="1298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8" name="Shape 38">
            <a:extLst>
              <a:ext uri="{FF2B5EF4-FFF2-40B4-BE49-F238E27FC236}">
                <a16:creationId xmlns:a16="http://schemas.microsoft.com/office/drawing/2014/main" id="{3308C6F0-088A-076E-DC8A-79D11E329B01}"/>
              </a:ext>
            </a:extLst>
          </p:cNvPr>
          <p:cNvSpPr/>
          <p:nvPr/>
        </p:nvSpPr>
        <p:spPr>
          <a:xfrm>
            <a:off x="4846320" y="3285744"/>
            <a:ext cx="7132320" cy="197967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109" name="Text 39">
            <a:extLst>
              <a:ext uri="{FF2B5EF4-FFF2-40B4-BE49-F238E27FC236}">
                <a16:creationId xmlns:a16="http://schemas.microsoft.com/office/drawing/2014/main" id="{B1C746FC-C86A-FA00-8937-5655DFB97859}"/>
              </a:ext>
            </a:extLst>
          </p:cNvPr>
          <p:cNvSpPr/>
          <p:nvPr/>
        </p:nvSpPr>
        <p:spPr>
          <a:xfrm>
            <a:off x="4992624" y="338632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Ключевые выводы по истории</a:t>
            </a:r>
            <a:endParaRPr lang="en-US" sz="1000" dirty="0"/>
          </a:p>
        </p:txBody>
      </p:sp>
      <p:sp>
        <p:nvSpPr>
          <p:cNvPr id="110" name="Shape 40">
            <a:extLst>
              <a:ext uri="{FF2B5EF4-FFF2-40B4-BE49-F238E27FC236}">
                <a16:creationId xmlns:a16="http://schemas.microsoft.com/office/drawing/2014/main" id="{B571EBCB-5B6B-AC54-61E8-C8CA0D2EA423}"/>
              </a:ext>
            </a:extLst>
          </p:cNvPr>
          <p:cNvSpPr/>
          <p:nvPr/>
        </p:nvSpPr>
        <p:spPr>
          <a:xfrm>
            <a:off x="5010912" y="368808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1" name="Text 41">
            <a:extLst>
              <a:ext uri="{FF2B5EF4-FFF2-40B4-BE49-F238E27FC236}">
                <a16:creationId xmlns:a16="http://schemas.microsoft.com/office/drawing/2014/main" id="{3F2C5C25-A24A-D125-600E-ACA9A36562B0}"/>
              </a:ext>
            </a:extLst>
          </p:cNvPr>
          <p:cNvSpPr/>
          <p:nvPr/>
        </p:nvSpPr>
        <p:spPr>
          <a:xfrm>
            <a:off x="5202936" y="3601212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доля пропусков в user_id выросла с 3% до 18,2%;</a:t>
            </a:r>
            <a:endParaRPr lang="en-US" sz="900" dirty="0"/>
          </a:p>
        </p:txBody>
      </p:sp>
      <p:sp>
        <p:nvSpPr>
          <p:cNvPr id="112" name="Shape 42">
            <a:extLst>
              <a:ext uri="{FF2B5EF4-FFF2-40B4-BE49-F238E27FC236}">
                <a16:creationId xmlns:a16="http://schemas.microsoft.com/office/drawing/2014/main" id="{34903383-34C3-214C-1310-547714773B6A}"/>
              </a:ext>
            </a:extLst>
          </p:cNvPr>
          <p:cNvSpPr/>
          <p:nvPr/>
        </p:nvSpPr>
        <p:spPr>
          <a:xfrm>
            <a:off x="5010912" y="407212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3" name="Text 43">
            <a:extLst>
              <a:ext uri="{FF2B5EF4-FFF2-40B4-BE49-F238E27FC236}">
                <a16:creationId xmlns:a16="http://schemas.microsoft.com/office/drawing/2014/main" id="{6C7CE79E-921B-9D63-29F6-F5C30C4405B2}"/>
              </a:ext>
            </a:extLst>
          </p:cNvPr>
          <p:cNvSpPr/>
          <p:nvPr/>
        </p:nvSpPr>
        <p:spPr>
          <a:xfrm>
            <a:off x="5158740" y="3983736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общее число проблем по таблице увеличилось с 4 до 22;</a:t>
            </a:r>
            <a:endParaRPr lang="en-US" sz="900" dirty="0"/>
          </a:p>
        </p:txBody>
      </p:sp>
      <p:sp>
        <p:nvSpPr>
          <p:cNvPr id="114" name="Shape 44">
            <a:extLst>
              <a:ext uri="{FF2B5EF4-FFF2-40B4-BE49-F238E27FC236}">
                <a16:creationId xmlns:a16="http://schemas.microsoft.com/office/drawing/2014/main" id="{4890DC59-AFCF-449A-65F6-BBD8CF777E65}"/>
              </a:ext>
            </a:extLst>
          </p:cNvPr>
          <p:cNvSpPr/>
          <p:nvPr/>
        </p:nvSpPr>
        <p:spPr>
          <a:xfrm>
            <a:off x="5010912" y="445617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5" name="Text 45">
            <a:extLst>
              <a:ext uri="{FF2B5EF4-FFF2-40B4-BE49-F238E27FC236}">
                <a16:creationId xmlns:a16="http://schemas.microsoft.com/office/drawing/2014/main" id="{77DD3703-1365-EF50-5B05-194A062D3B2E}"/>
              </a:ext>
            </a:extLst>
          </p:cNvPr>
          <p:cNvSpPr/>
          <p:nvPr/>
        </p:nvSpPr>
        <p:spPr>
          <a:xfrm>
            <a:off x="5202936" y="4366260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ухудшение началось после обновления загрузки 15.04;</a:t>
            </a:r>
            <a:endParaRPr lang="en-US" sz="900" dirty="0"/>
          </a:p>
        </p:txBody>
      </p:sp>
      <p:sp>
        <p:nvSpPr>
          <p:cNvPr id="116" name="Shape 46">
            <a:extLst>
              <a:ext uri="{FF2B5EF4-FFF2-40B4-BE49-F238E27FC236}">
                <a16:creationId xmlns:a16="http://schemas.microsoft.com/office/drawing/2014/main" id="{C4FC1729-5DB3-FE28-1FBF-9B0FD9C72B83}"/>
              </a:ext>
            </a:extLst>
          </p:cNvPr>
          <p:cNvSpPr/>
          <p:nvPr/>
        </p:nvSpPr>
        <p:spPr>
          <a:xfrm>
            <a:off x="5010912" y="484022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7" name="Text 47">
            <a:extLst>
              <a:ext uri="{FF2B5EF4-FFF2-40B4-BE49-F238E27FC236}">
                <a16:creationId xmlns:a16="http://schemas.microsoft.com/office/drawing/2014/main" id="{D276EB5F-F7FB-9199-EA0E-2B5ECEEC6552}"/>
              </a:ext>
            </a:extLst>
          </p:cNvPr>
          <p:cNvSpPr/>
          <p:nvPr/>
        </p:nvSpPr>
        <p:spPr>
          <a:xfrm>
            <a:off x="5202936" y="4748784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таблица требует первоочередной проверки ETL-процесса.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362</Words>
  <Application>Microsoft Office PowerPoint</Application>
  <PresentationFormat>Широкоэкранный</PresentationFormat>
  <Paragraphs>176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Дашборд качества данных — MVP</dc:title>
  <dc:subject>Dashboard MVP for Case 5</dc:subject>
  <dc:creator>OpenAI</dc:creator>
  <cp:lastModifiedBy>User</cp:lastModifiedBy>
  <cp:revision>18</cp:revision>
  <dcterms:created xsi:type="dcterms:W3CDTF">2026-04-20T19:04:36Z</dcterms:created>
  <dcterms:modified xsi:type="dcterms:W3CDTF">2026-04-21T17:14:06Z</dcterms:modified>
</cp:coreProperties>
</file>