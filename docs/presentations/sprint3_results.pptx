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мониторим базы данных. Да, это база. Буквально.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 pet-проекта в пятницу вечером — 1 пользователь, 1 БД, 0 проблем, потому что нет пользователей.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слайд ради которого я пришёл. Вместо честного DI — питоновский ContextVar. Спорное решение, но 0 строк рефакторинга в коллекторах окупает многое.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бага, которые я бы никогда сам не нашёл, потому что я и есть автор. UX тестируется только чужими руками.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460 тестов написал, а кнопку logout забыл. Вопросы есть?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7200" b="1" i="0">
                <a:solidFill>
                  <a:srgbClr val="1F2A44"/>
                </a:solidFill>
                <a:latin typeface="Calibri"/>
              </a:defRPr>
            </a:pPr>
            <a:r>
              <a:t>DB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800" b="0" i="1">
                <a:solidFill>
                  <a:srgbClr val="4F86C6"/>
                </a:solidFill>
                <a:latin typeface="Calibri"/>
              </a:defRPr>
            </a:pPr>
            <a:r>
              <a:t>мониторим базу, чтобы база не мониторила нас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 i="0">
                <a:solidFill>
                  <a:srgbClr val="6B7280"/>
                </a:solidFill>
                <a:latin typeface="Calibri"/>
              </a:defRPr>
            </a:pPr>
            <a:r>
              <a:t>SaaS для контроля качества данных: PostgreSQL · MySQL · ClickHouse · Iceberg</a:t>
            </a:r>
          </a:p>
          <a:p>
            <a:pPr algn="ctr">
              <a:spcAft>
                <a:spcPts val="600"/>
              </a:spcAft>
              <a:defRPr sz="1800" b="0" i="0">
                <a:solidFill>
                  <a:srgbClr val="6B7280"/>
                </a:solidFill>
                <a:latin typeface="Calibri"/>
              </a:defRPr>
            </a:pPr>
            <a:r>
              <a:t>До Sprint 3 — bash-скрипт с веб-мордой и одним .env на всех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926080" cy="1554480"/>
          </a:xfrm>
          <a:prstGeom prst="roundRect">
            <a:avLst/>
          </a:prstGeom>
          <a:solidFill>
            <a:srgbClr val="E9ECF2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0"/>
          <a:lstStyle/>
          <a:p>
            <a:pPr algn="ctr">
              <a:defRPr sz="1600" b="1">
                <a:solidFill>
                  <a:srgbClr val="6B7280"/>
                </a:solidFill>
                <a:latin typeface="Calibri"/>
              </a:defRPr>
            </a:pPr>
            <a:r>
              <a:t>МЕМ</a:t>
            </a:r>
          </a:p>
          <a:p>
            <a:pPr algn="ctr">
              <a:spcBef>
                <a:spcPts val="800"/>
              </a:spcBef>
              <a:defRPr sz="1300" i="1">
                <a:solidFill>
                  <a:srgbClr val="6B7280"/>
                </a:solidFill>
                <a:latin typeface="Calibri"/>
              </a:defRPr>
            </a:pPr>
            <a:r>
              <a:t>«Это база» — мужик-эксперт, подпись «PostgreSQL»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 i="0">
                <a:solidFill>
                  <a:srgbClr val="1F2A44"/>
                </a:solidFill>
                <a:latin typeface="Calibri"/>
              </a:defRPr>
            </a:pPr>
            <a:r>
              <a:t>Что было: single-tenant счастье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 b="0" i="0">
                <a:solidFill>
                  <a:srgbClr val="1F2A44"/>
                </a:solidFill>
                <a:latin typeface="Calibri"/>
              </a:defRPr>
            </a:pPr>
            <a:r>
              <a:t>•  Один .env, одна таблица метрик, ноль авторизации</a:t>
            </a:r>
          </a:p>
          <a:p>
            <a:pPr algn="l">
              <a:spcAft>
                <a:spcPts val="1200"/>
              </a:spcAft>
              <a:defRPr sz="2000" b="0" i="0">
                <a:solidFill>
                  <a:srgbClr val="1F2A44"/>
                </a:solidFill>
                <a:latin typeface="Calibri"/>
              </a:defRPr>
            </a:pPr>
            <a:r>
              <a:t>•  «Multi-tenant» означало «открой второй терминал»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011680"/>
            <a:ext cx="3840480" cy="3291840"/>
          </a:xfrm>
          <a:prstGeom prst="roundRect">
            <a:avLst/>
          </a:prstGeom>
          <a:solidFill>
            <a:srgbClr val="E9ECF2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0"/>
          <a:lstStyle/>
          <a:p>
            <a:pPr algn="ctr">
              <a:defRPr sz="1600" b="1">
                <a:solidFill>
                  <a:srgbClr val="6B7280"/>
                </a:solidFill>
                <a:latin typeface="Calibri"/>
              </a:defRPr>
            </a:pPr>
            <a:r>
              <a:t>МЕМ</a:t>
            </a:r>
          </a:p>
          <a:p>
            <a:pPr algn="ctr">
              <a:spcBef>
                <a:spcPts val="800"/>
              </a:spcBef>
              <a:defRPr sz="1300" i="1">
                <a:solidFill>
                  <a:srgbClr val="6B7280"/>
                </a:solidFill>
                <a:latin typeface="Calibri"/>
              </a:defRPr>
            </a:pPr>
            <a:r>
              <a:t>Маша из «Маша и медведь» — «слишком сложно»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 i="0">
                <a:solidFill>
                  <a:srgbClr val="1F2A44"/>
                </a:solidFill>
                <a:latin typeface="Calibri"/>
              </a:defRPr>
            </a:pPr>
            <a:r>
              <a:t>ContextVar + using_engine — multi-tenant без рефакторинга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3108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0" i="0">
                <a:solidFill>
                  <a:srgbClr val="1F2A44"/>
                </a:solidFill>
                <a:latin typeface="Menlo"/>
              </a:defRPr>
            </a:pPr>
            <a:r>
              <a:t>   HTTP request  ──►  set ctx(project_id)</a:t>
            </a:r>
          </a:p>
          <a:p>
            <a:pPr algn="l">
              <a:spcAft>
                <a:spcPts val="200"/>
              </a:spcAft>
              <a:defRPr sz="1800" b="0" i="0">
                <a:solidFill>
                  <a:srgbClr val="1F2A44"/>
                </a:solidFill>
                <a:latin typeface="Menlo"/>
              </a:defRPr>
            </a:pPr>
            <a:r>
              <a:t>                          │</a:t>
            </a:r>
          </a:p>
          <a:p>
            <a:pPr algn="l">
              <a:spcAft>
                <a:spcPts val="200"/>
              </a:spcAft>
              <a:defRPr sz="1800" b="0" i="0">
                <a:solidFill>
                  <a:srgbClr val="1F2A44"/>
                </a:solidFill>
                <a:latin typeface="Menlo"/>
              </a:defRPr>
            </a:pPr>
            <a:r>
              <a:t>                          ▼</a:t>
            </a:r>
          </a:p>
          <a:p>
            <a:pPr algn="l">
              <a:spcAft>
                <a:spcPts val="200"/>
              </a:spcAft>
              <a:defRPr sz="1800" b="0" i="0">
                <a:solidFill>
                  <a:srgbClr val="1F2A44"/>
                </a:solidFill>
                <a:latin typeface="Menlo"/>
              </a:defRPr>
            </a:pPr>
            <a:r>
              <a:t>   ┌──────────── using_engine(dsn) ────────────┐</a:t>
            </a:r>
          </a:p>
          <a:p>
            <a:pPr algn="l">
              <a:spcAft>
                <a:spcPts val="200"/>
              </a:spcAft>
              <a:defRPr sz="1800" b="0" i="0">
                <a:solidFill>
                  <a:srgbClr val="1F2A44"/>
                </a:solidFill>
                <a:latin typeface="Menlo"/>
              </a:defRPr>
            </a:pPr>
            <a:r>
              <a:t>   │   adapter.collect()  ◄── видит свой DSN   │</a:t>
            </a:r>
          </a:p>
          <a:p>
            <a:pPr algn="l">
              <a:spcAft>
                <a:spcPts val="200"/>
              </a:spcAft>
              <a:defRPr sz="1800" b="0" i="0">
                <a:solidFill>
                  <a:srgbClr val="1F2A44"/>
                </a:solidFill>
                <a:latin typeface="Menlo"/>
              </a:defRPr>
            </a:pPr>
            <a:r>
              <a:t>   │   ничего не знает про tenants             │</a:t>
            </a:r>
          </a:p>
          <a:p>
            <a:pPr algn="l">
              <a:spcAft>
                <a:spcPts val="200"/>
              </a:spcAft>
              <a:defRPr sz="1800" b="0" i="0">
                <a:solidFill>
                  <a:srgbClr val="1F2A44"/>
                </a:solidFill>
                <a:latin typeface="Menlo"/>
              </a:defRPr>
            </a:pPr>
            <a:r>
              <a:t>   └───────────────────────────────────────────┘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 i="0">
                <a:solidFill>
                  <a:srgbClr val="1F2A44"/>
                </a:solidFill>
                <a:latin typeface="Calibri"/>
              </a:defRPr>
            </a:pPr>
            <a:r>
              <a:t>•  Адаптеры не тронуты — ни строки</a:t>
            </a:r>
          </a:p>
          <a:p>
            <a:pPr algn="l">
              <a:spcAft>
                <a:spcPts val="1200"/>
              </a:spcAft>
              <a:defRPr sz="1800" b="0" i="0">
                <a:solidFill>
                  <a:srgbClr val="1F2A44"/>
                </a:solidFill>
                <a:latin typeface="Calibri"/>
              </a:defRPr>
            </a:pPr>
            <a:r>
              <a:t>•  Engine подменяется на лету через контекст</a:t>
            </a:r>
          </a:p>
          <a:p>
            <a:pPr algn="l">
              <a:spcAft>
                <a:spcPts val="1200"/>
              </a:spcAft>
              <a:defRPr sz="1800" b="0" i="0">
                <a:solidFill>
                  <a:srgbClr val="1F2A44"/>
                </a:solidFill>
                <a:latin typeface="Calibri"/>
              </a:defRPr>
            </a:pPr>
            <a:r>
              <a:t>•  Tenant-изоляция как контекст логирования, не как новая сущность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 i="0">
                <a:solidFill>
                  <a:srgbClr val="1F2A44"/>
                </a:solidFill>
                <a:latin typeface="Calibri"/>
              </a:defRPr>
            </a:pPr>
            <a:r>
              <a:t>Опа, чё за камера тут?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 b="0" i="0">
                <a:solidFill>
                  <a:srgbClr val="1F2A44"/>
                </a:solidFill>
                <a:latin typeface="Calibri"/>
              </a:defRPr>
            </a:pPr>
            <a:r>
              <a:t>•  Юзер: «а где кнопка выйти?» → появился logout</a:t>
            </a:r>
          </a:p>
          <a:p>
            <a:pPr algn="l">
              <a:spcAft>
                <a:spcPts val="1200"/>
              </a:spcAft>
              <a:defRPr sz="2000" b="0" i="0">
                <a:solidFill>
                  <a:srgbClr val="1F2A44"/>
                </a:solidFill>
                <a:latin typeface="Calibri"/>
              </a:defRPr>
            </a:pPr>
            <a:r>
              <a:t>•  Юзер: «error непонятная» → отдельный код supabase_tenant_not_found</a:t>
            </a:r>
          </a:p>
          <a:p>
            <a:pPr algn="l">
              <a:spcAft>
                <a:spcPts val="1200"/>
              </a:spcAft>
              <a:defRPr sz="2000" b="0" i="0">
                <a:solidFill>
                  <a:srgbClr val="1F2A44"/>
                </a:solidFill>
                <a:latin typeface="Calibri"/>
              </a:defRPr>
            </a:pPr>
            <a:r>
              <a:t>•  Раньше первые метрики через 15 минут — теперь next_run_time=now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011680"/>
            <a:ext cx="3840480" cy="3291840"/>
          </a:xfrm>
          <a:prstGeom prst="roundRect">
            <a:avLst/>
          </a:prstGeom>
          <a:solidFill>
            <a:srgbClr val="E9ECF2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0"/>
          <a:lstStyle/>
          <a:p>
            <a:pPr algn="ctr">
              <a:defRPr sz="1600" b="1">
                <a:solidFill>
                  <a:srgbClr val="6B7280"/>
                </a:solidFill>
                <a:latin typeface="Calibri"/>
              </a:defRPr>
            </a:pPr>
            <a:r>
              <a:t>МЕМ</a:t>
            </a:r>
          </a:p>
          <a:p>
            <a:pPr algn="ctr">
              <a:spcBef>
                <a:spcPts val="800"/>
              </a:spcBef>
              <a:defRPr sz="1300" i="1">
                <a:solidFill>
                  <a:srgbClr val="6B7280"/>
                </a:solidFill>
                <a:latin typeface="Calibri"/>
              </a:defRPr>
            </a:pPr>
            <a:r>
              <a:t>«Опа, опа, чё за камера тут?»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 i="0">
                <a:solidFill>
                  <a:srgbClr val="1F2A44"/>
                </a:solidFill>
                <a:latin typeface="Calibri"/>
              </a:defRPr>
            </a:pPr>
            <a:r>
              <a:t>Итого: 460 тестов, 4 СУБД, 1 разработчик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 b="0" i="0">
                <a:solidFill>
                  <a:srgbClr val="1F2A44"/>
                </a:solidFill>
                <a:latin typeface="Calibri"/>
              </a:defRPr>
            </a:pPr>
            <a:r>
              <a:t>•  8/8 тикетов Sprint 3 + 25 PR смержено</a:t>
            </a:r>
          </a:p>
          <a:p>
            <a:pPr algn="l">
              <a:spcAft>
                <a:spcPts val="1200"/>
              </a:spcAft>
              <a:defRPr sz="2000" b="0" i="0">
                <a:solidFill>
                  <a:srgbClr val="1F2A44"/>
                </a:solidFill>
                <a:latin typeface="Calibri"/>
              </a:defRPr>
            </a:pPr>
            <a:r>
              <a:t>•  Onboarding: anon → wizard → dashboard за 3 клика</a:t>
            </a:r>
          </a:p>
          <a:p>
            <a:pPr algn="l">
              <a:spcAft>
                <a:spcPts val="1200"/>
              </a:spcAft>
              <a:defRPr sz="2000" b="0" i="0">
                <a:solidFill>
                  <a:srgbClr val="1F2A44"/>
                </a:solidFill>
                <a:latin typeface="Calibri"/>
              </a:defRPr>
            </a:pPr>
            <a:r>
              <a:t>•  ML: IsolationForest · Prophet · PELT · PSI/KS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011680"/>
            <a:ext cx="3840480" cy="3291840"/>
          </a:xfrm>
          <a:prstGeom prst="roundRect">
            <a:avLst/>
          </a:prstGeom>
          <a:solidFill>
            <a:srgbClr val="E9ECF2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0"/>
          <a:lstStyle/>
          <a:p>
            <a:pPr algn="ctr">
              <a:defRPr sz="1600" b="1">
                <a:solidFill>
                  <a:srgbClr val="6B7280"/>
                </a:solidFill>
                <a:latin typeface="Calibri"/>
              </a:defRPr>
            </a:pPr>
            <a:r>
              <a:t>МЕМ</a:t>
            </a:r>
          </a:p>
          <a:p>
            <a:pPr algn="ctr">
              <a:spcBef>
                <a:spcPts val="800"/>
              </a:spcBef>
              <a:defRPr sz="1300" i="1">
                <a:solidFill>
                  <a:srgbClr val="6B7280"/>
                </a:solidFill>
                <a:latin typeface="Calibri"/>
              </a:defRPr>
            </a:pPr>
            <a:r>
              <a:t>«А ты точно эксперт?» — кот в очках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7784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1" i="1">
                <a:solidFill>
                  <a:srgbClr val="4F86C6"/>
                </a:solidFill>
                <a:latin typeface="Calibri"/>
              </a:defRPr>
            </a:pPr>
            <a:r>
              <a:t>460 тестов написал, а кнопку logout забыл.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